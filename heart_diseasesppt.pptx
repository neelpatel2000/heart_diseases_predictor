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1" r:id="rId1"/>
  </p:sldMasterIdLst>
  <p:notesMasterIdLst>
    <p:notesMasterId r:id="rId12"/>
  </p:notesMasterIdLst>
  <p:sldIdLst>
    <p:sldId id="256" r:id="rId2"/>
    <p:sldId id="263" r:id="rId3"/>
    <p:sldId id="264" r:id="rId4"/>
    <p:sldId id="257" r:id="rId5"/>
    <p:sldId id="258" r:id="rId6"/>
    <p:sldId id="259" r:id="rId7"/>
    <p:sldId id="260" r:id="rId8"/>
    <p:sldId id="261" r:id="rId9"/>
    <p:sldId id="265"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23"/>
    <p:restoredTop sz="96170"/>
  </p:normalViewPr>
  <p:slideViewPr>
    <p:cSldViewPr snapToGrid="0">
      <p:cViewPr varScale="1">
        <p:scale>
          <a:sx n="144" d="100"/>
          <a:sy n="144" d="100"/>
        </p:scale>
        <p:origin x="1176" y="18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935FA2-D1B9-4B00-948A-79F4627EF361}"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ABED444-D2EA-423D-9883-5E1E86CEFE4A}">
      <dgm:prSet/>
      <dgm:spPr/>
      <dgm:t>
        <a:bodyPr/>
        <a:lstStyle/>
        <a:p>
          <a:pPr>
            <a:defRPr b="1"/>
          </a:pPr>
          <a:r>
            <a:rPr lang="en-US" b="1"/>
            <a:t>Clinical Goals:</a:t>
          </a:r>
          <a:endParaRPr lang="en-US"/>
        </a:p>
      </dgm:t>
    </dgm:pt>
    <dgm:pt modelId="{CBF793F5-216C-47D6-A084-B77310D972E1}" type="parTrans" cxnId="{7FE82E1A-E2F2-42BC-8D59-340510618706}">
      <dgm:prSet/>
      <dgm:spPr/>
      <dgm:t>
        <a:bodyPr/>
        <a:lstStyle/>
        <a:p>
          <a:endParaRPr lang="en-US"/>
        </a:p>
      </dgm:t>
    </dgm:pt>
    <dgm:pt modelId="{83E3DC20-2D26-44E8-B241-B636F903130A}" type="sibTrans" cxnId="{7FE82E1A-E2F2-42BC-8D59-340510618706}">
      <dgm:prSet/>
      <dgm:spPr/>
      <dgm:t>
        <a:bodyPr/>
        <a:lstStyle/>
        <a:p>
          <a:endParaRPr lang="en-US"/>
        </a:p>
      </dgm:t>
    </dgm:pt>
    <dgm:pt modelId="{D882663D-3FFF-4FFD-94BB-9A516457E658}">
      <dgm:prSet/>
      <dgm:spPr/>
      <dgm:t>
        <a:bodyPr/>
        <a:lstStyle/>
        <a:p>
          <a:r>
            <a:rPr lang="en-US"/>
            <a:t>Enhance early detection capabilities to identify high-risk patients before critical events occur, enabling personalized preventative treatment plans.</a:t>
          </a:r>
        </a:p>
      </dgm:t>
    </dgm:pt>
    <dgm:pt modelId="{1378E1AC-7535-4B2E-B2C7-868E51E29669}" type="parTrans" cxnId="{CA34724F-6C65-4C02-8052-29D1B64AC85C}">
      <dgm:prSet/>
      <dgm:spPr/>
      <dgm:t>
        <a:bodyPr/>
        <a:lstStyle/>
        <a:p>
          <a:endParaRPr lang="en-US"/>
        </a:p>
      </dgm:t>
    </dgm:pt>
    <dgm:pt modelId="{32813439-B12B-49A3-B037-A2A3DB300B26}" type="sibTrans" cxnId="{CA34724F-6C65-4C02-8052-29D1B64AC85C}">
      <dgm:prSet/>
      <dgm:spPr/>
      <dgm:t>
        <a:bodyPr/>
        <a:lstStyle/>
        <a:p>
          <a:endParaRPr lang="en-US"/>
        </a:p>
      </dgm:t>
    </dgm:pt>
    <dgm:pt modelId="{ABA35569-E748-4E4F-BCD6-BD3CD5B2A344}">
      <dgm:prSet/>
      <dgm:spPr/>
      <dgm:t>
        <a:bodyPr/>
        <a:lstStyle/>
        <a:p>
          <a:pPr>
            <a:defRPr b="1"/>
          </a:pPr>
          <a:r>
            <a:rPr lang="en-US" b="1"/>
            <a:t>Business Goals: </a:t>
          </a:r>
          <a:endParaRPr lang="en-US"/>
        </a:p>
      </dgm:t>
    </dgm:pt>
    <dgm:pt modelId="{9616D963-C1C9-48F3-A710-FC8CE7D55804}" type="parTrans" cxnId="{B73CC316-0EC2-4EA5-89A8-26DE1A24C87E}">
      <dgm:prSet/>
      <dgm:spPr/>
      <dgm:t>
        <a:bodyPr/>
        <a:lstStyle/>
        <a:p>
          <a:endParaRPr lang="en-US"/>
        </a:p>
      </dgm:t>
    </dgm:pt>
    <dgm:pt modelId="{0D553D1D-2EC7-47C9-AA6F-D93A5B066508}" type="sibTrans" cxnId="{B73CC316-0EC2-4EA5-89A8-26DE1A24C87E}">
      <dgm:prSet/>
      <dgm:spPr/>
      <dgm:t>
        <a:bodyPr/>
        <a:lstStyle/>
        <a:p>
          <a:endParaRPr lang="en-US"/>
        </a:p>
      </dgm:t>
    </dgm:pt>
    <dgm:pt modelId="{12AD497C-3188-41AB-B16F-FC662CA8D456}">
      <dgm:prSet/>
      <dgm:spPr/>
      <dgm:t>
        <a:bodyPr/>
        <a:lstStyle/>
        <a:p>
          <a:r>
            <a:rPr lang="en-US"/>
            <a:t>Reduce long-term healthcare costs associated with late-stage cardiovascular interventions and optimize hospital resource allocation through automated risk stratification.</a:t>
          </a:r>
        </a:p>
      </dgm:t>
    </dgm:pt>
    <dgm:pt modelId="{0E2ED191-F62D-4044-8081-D16D6B5EF78D}" type="parTrans" cxnId="{4067531B-FBC6-47A2-9311-1813A5675E65}">
      <dgm:prSet/>
      <dgm:spPr/>
      <dgm:t>
        <a:bodyPr/>
        <a:lstStyle/>
        <a:p>
          <a:endParaRPr lang="en-US"/>
        </a:p>
      </dgm:t>
    </dgm:pt>
    <dgm:pt modelId="{CB7C7190-FAE4-4CDB-892C-B2BFF4F0444B}" type="sibTrans" cxnId="{4067531B-FBC6-47A2-9311-1813A5675E65}">
      <dgm:prSet/>
      <dgm:spPr/>
      <dgm:t>
        <a:bodyPr/>
        <a:lstStyle/>
        <a:p>
          <a:endParaRPr lang="en-US"/>
        </a:p>
      </dgm:t>
    </dgm:pt>
    <dgm:pt modelId="{C19E8B1E-5ACB-4DB2-BAA9-C2917169BCA8}" type="pres">
      <dgm:prSet presAssocID="{BC935FA2-D1B9-4B00-948A-79F4627EF361}" presName="root" presStyleCnt="0">
        <dgm:presLayoutVars>
          <dgm:dir/>
          <dgm:resizeHandles val="exact"/>
        </dgm:presLayoutVars>
      </dgm:prSet>
      <dgm:spPr/>
    </dgm:pt>
    <dgm:pt modelId="{A1C776E7-3C7F-450C-A28F-F233B37686DA}" type="pres">
      <dgm:prSet presAssocID="{9ABED444-D2EA-423D-9883-5E1E86CEFE4A}" presName="compNode" presStyleCnt="0"/>
      <dgm:spPr/>
    </dgm:pt>
    <dgm:pt modelId="{5A39A2CC-59F7-405A-87A6-9BB2E328376B}" type="pres">
      <dgm:prSet presAssocID="{9ABED444-D2EA-423D-9883-5E1E86CEFE4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llseye"/>
        </a:ext>
      </dgm:extLst>
    </dgm:pt>
    <dgm:pt modelId="{F451AFF9-0684-429C-950B-A99AF69DFB05}" type="pres">
      <dgm:prSet presAssocID="{9ABED444-D2EA-423D-9883-5E1E86CEFE4A}" presName="iconSpace" presStyleCnt="0"/>
      <dgm:spPr/>
    </dgm:pt>
    <dgm:pt modelId="{596998CA-7FD9-4D14-BBA7-FA8FB9271180}" type="pres">
      <dgm:prSet presAssocID="{9ABED444-D2EA-423D-9883-5E1E86CEFE4A}" presName="parTx" presStyleLbl="revTx" presStyleIdx="0" presStyleCnt="4">
        <dgm:presLayoutVars>
          <dgm:chMax val="0"/>
          <dgm:chPref val="0"/>
        </dgm:presLayoutVars>
      </dgm:prSet>
      <dgm:spPr/>
    </dgm:pt>
    <dgm:pt modelId="{930C503C-AA42-4C52-AD5E-0537BA06246A}" type="pres">
      <dgm:prSet presAssocID="{9ABED444-D2EA-423D-9883-5E1E86CEFE4A}" presName="txSpace" presStyleCnt="0"/>
      <dgm:spPr/>
    </dgm:pt>
    <dgm:pt modelId="{B5F5A470-D8DC-4374-BC51-5D4A660DBA8F}" type="pres">
      <dgm:prSet presAssocID="{9ABED444-D2EA-423D-9883-5E1E86CEFE4A}" presName="desTx" presStyleLbl="revTx" presStyleIdx="1" presStyleCnt="4">
        <dgm:presLayoutVars/>
      </dgm:prSet>
      <dgm:spPr/>
    </dgm:pt>
    <dgm:pt modelId="{AA5D5133-3E4A-460D-946E-3DEADBC95E8D}" type="pres">
      <dgm:prSet presAssocID="{83E3DC20-2D26-44E8-B241-B636F903130A}" presName="sibTrans" presStyleCnt="0"/>
      <dgm:spPr/>
    </dgm:pt>
    <dgm:pt modelId="{690EEE32-6ED6-4614-8BDA-E64EDD2A1683}" type="pres">
      <dgm:prSet presAssocID="{ABA35569-E748-4E4F-BCD6-BD3CD5B2A344}" presName="compNode" presStyleCnt="0"/>
      <dgm:spPr/>
    </dgm:pt>
    <dgm:pt modelId="{F4963626-AF3C-40CE-B168-4B38359E8222}" type="pres">
      <dgm:prSet presAssocID="{ABA35569-E748-4E4F-BCD6-BD3CD5B2A344}"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D75A570A-FC5C-4F9A-AC38-147F069228B3}" type="pres">
      <dgm:prSet presAssocID="{ABA35569-E748-4E4F-BCD6-BD3CD5B2A344}" presName="iconSpace" presStyleCnt="0"/>
      <dgm:spPr/>
    </dgm:pt>
    <dgm:pt modelId="{AEFB6118-04E7-4E39-AA1B-B9EBEDB20148}" type="pres">
      <dgm:prSet presAssocID="{ABA35569-E748-4E4F-BCD6-BD3CD5B2A344}" presName="parTx" presStyleLbl="revTx" presStyleIdx="2" presStyleCnt="4">
        <dgm:presLayoutVars>
          <dgm:chMax val="0"/>
          <dgm:chPref val="0"/>
        </dgm:presLayoutVars>
      </dgm:prSet>
      <dgm:spPr/>
    </dgm:pt>
    <dgm:pt modelId="{125AE246-E026-4350-A8B2-C89E981B748D}" type="pres">
      <dgm:prSet presAssocID="{ABA35569-E748-4E4F-BCD6-BD3CD5B2A344}" presName="txSpace" presStyleCnt="0"/>
      <dgm:spPr/>
    </dgm:pt>
    <dgm:pt modelId="{CFC125A2-3DFC-4071-B01D-5D8D18407287}" type="pres">
      <dgm:prSet presAssocID="{ABA35569-E748-4E4F-BCD6-BD3CD5B2A344}" presName="desTx" presStyleLbl="revTx" presStyleIdx="3" presStyleCnt="4">
        <dgm:presLayoutVars/>
      </dgm:prSet>
      <dgm:spPr/>
    </dgm:pt>
  </dgm:ptLst>
  <dgm:cxnLst>
    <dgm:cxn modelId="{44366A06-DB31-451D-8BCF-CF42B5610746}" type="presOf" srcId="{D882663D-3FFF-4FFD-94BB-9A516457E658}" destId="{B5F5A470-D8DC-4374-BC51-5D4A660DBA8F}" srcOrd="0" destOrd="0" presId="urn:microsoft.com/office/officeart/2018/5/layout/CenteredIconLabelDescriptionList"/>
    <dgm:cxn modelId="{B73CC316-0EC2-4EA5-89A8-26DE1A24C87E}" srcId="{BC935FA2-D1B9-4B00-948A-79F4627EF361}" destId="{ABA35569-E748-4E4F-BCD6-BD3CD5B2A344}" srcOrd="1" destOrd="0" parTransId="{9616D963-C1C9-48F3-A710-FC8CE7D55804}" sibTransId="{0D553D1D-2EC7-47C9-AA6F-D93A5B066508}"/>
    <dgm:cxn modelId="{7FE82E1A-E2F2-42BC-8D59-340510618706}" srcId="{BC935FA2-D1B9-4B00-948A-79F4627EF361}" destId="{9ABED444-D2EA-423D-9883-5E1E86CEFE4A}" srcOrd="0" destOrd="0" parTransId="{CBF793F5-216C-47D6-A084-B77310D972E1}" sibTransId="{83E3DC20-2D26-44E8-B241-B636F903130A}"/>
    <dgm:cxn modelId="{4067531B-FBC6-47A2-9311-1813A5675E65}" srcId="{ABA35569-E748-4E4F-BCD6-BD3CD5B2A344}" destId="{12AD497C-3188-41AB-B16F-FC662CA8D456}" srcOrd="0" destOrd="0" parTransId="{0E2ED191-F62D-4044-8081-D16D6B5EF78D}" sibTransId="{CB7C7190-FAE4-4CDB-892C-B2BFF4F0444B}"/>
    <dgm:cxn modelId="{408D4D45-D1A2-453C-A145-F0FAE94E6F36}" type="presOf" srcId="{BC935FA2-D1B9-4B00-948A-79F4627EF361}" destId="{C19E8B1E-5ACB-4DB2-BAA9-C2917169BCA8}" srcOrd="0" destOrd="0" presId="urn:microsoft.com/office/officeart/2018/5/layout/CenteredIconLabelDescriptionList"/>
    <dgm:cxn modelId="{CA34724F-6C65-4C02-8052-29D1B64AC85C}" srcId="{9ABED444-D2EA-423D-9883-5E1E86CEFE4A}" destId="{D882663D-3FFF-4FFD-94BB-9A516457E658}" srcOrd="0" destOrd="0" parTransId="{1378E1AC-7535-4B2E-B2C7-868E51E29669}" sibTransId="{32813439-B12B-49A3-B037-A2A3DB300B26}"/>
    <dgm:cxn modelId="{AA2ABF5A-DB01-47F3-9F4C-A71F15AF4BC6}" type="presOf" srcId="{ABA35569-E748-4E4F-BCD6-BD3CD5B2A344}" destId="{AEFB6118-04E7-4E39-AA1B-B9EBEDB20148}" srcOrd="0" destOrd="0" presId="urn:microsoft.com/office/officeart/2018/5/layout/CenteredIconLabelDescriptionList"/>
    <dgm:cxn modelId="{A79CEFC5-B8F9-4960-A9CF-7C1127393370}" type="presOf" srcId="{9ABED444-D2EA-423D-9883-5E1E86CEFE4A}" destId="{596998CA-7FD9-4D14-BBA7-FA8FB9271180}" srcOrd="0" destOrd="0" presId="urn:microsoft.com/office/officeart/2018/5/layout/CenteredIconLabelDescriptionList"/>
    <dgm:cxn modelId="{12FA7FF0-EC64-42EB-A8DA-1A84517110DE}" type="presOf" srcId="{12AD497C-3188-41AB-B16F-FC662CA8D456}" destId="{CFC125A2-3DFC-4071-B01D-5D8D18407287}" srcOrd="0" destOrd="0" presId="urn:microsoft.com/office/officeart/2018/5/layout/CenteredIconLabelDescriptionList"/>
    <dgm:cxn modelId="{B2301A58-BB70-4DD1-9910-ADA676EB822A}" type="presParOf" srcId="{C19E8B1E-5ACB-4DB2-BAA9-C2917169BCA8}" destId="{A1C776E7-3C7F-450C-A28F-F233B37686DA}" srcOrd="0" destOrd="0" presId="urn:microsoft.com/office/officeart/2018/5/layout/CenteredIconLabelDescriptionList"/>
    <dgm:cxn modelId="{E580CE7E-26B4-4A43-811D-6E45BB1DB75F}" type="presParOf" srcId="{A1C776E7-3C7F-450C-A28F-F233B37686DA}" destId="{5A39A2CC-59F7-405A-87A6-9BB2E328376B}" srcOrd="0" destOrd="0" presId="urn:microsoft.com/office/officeart/2018/5/layout/CenteredIconLabelDescriptionList"/>
    <dgm:cxn modelId="{F0890C1A-9B72-48CD-9A0C-FB2900529E71}" type="presParOf" srcId="{A1C776E7-3C7F-450C-A28F-F233B37686DA}" destId="{F451AFF9-0684-429C-950B-A99AF69DFB05}" srcOrd="1" destOrd="0" presId="urn:microsoft.com/office/officeart/2018/5/layout/CenteredIconLabelDescriptionList"/>
    <dgm:cxn modelId="{D3D189B3-9953-49BD-86F3-3AC167044426}" type="presParOf" srcId="{A1C776E7-3C7F-450C-A28F-F233B37686DA}" destId="{596998CA-7FD9-4D14-BBA7-FA8FB9271180}" srcOrd="2" destOrd="0" presId="urn:microsoft.com/office/officeart/2018/5/layout/CenteredIconLabelDescriptionList"/>
    <dgm:cxn modelId="{BB34733C-0CCE-4533-AC0B-20A747EE8251}" type="presParOf" srcId="{A1C776E7-3C7F-450C-A28F-F233B37686DA}" destId="{930C503C-AA42-4C52-AD5E-0537BA06246A}" srcOrd="3" destOrd="0" presId="urn:microsoft.com/office/officeart/2018/5/layout/CenteredIconLabelDescriptionList"/>
    <dgm:cxn modelId="{2E1DBC3C-898C-41E6-A604-0384324C2527}" type="presParOf" srcId="{A1C776E7-3C7F-450C-A28F-F233B37686DA}" destId="{B5F5A470-D8DC-4374-BC51-5D4A660DBA8F}" srcOrd="4" destOrd="0" presId="urn:microsoft.com/office/officeart/2018/5/layout/CenteredIconLabelDescriptionList"/>
    <dgm:cxn modelId="{BC09B23F-F69F-4C84-9C8E-93AE7375E5C1}" type="presParOf" srcId="{C19E8B1E-5ACB-4DB2-BAA9-C2917169BCA8}" destId="{AA5D5133-3E4A-460D-946E-3DEADBC95E8D}" srcOrd="1" destOrd="0" presId="urn:microsoft.com/office/officeart/2018/5/layout/CenteredIconLabelDescriptionList"/>
    <dgm:cxn modelId="{0D129309-5E25-4E57-8998-E7C3386293D9}" type="presParOf" srcId="{C19E8B1E-5ACB-4DB2-BAA9-C2917169BCA8}" destId="{690EEE32-6ED6-4614-8BDA-E64EDD2A1683}" srcOrd="2" destOrd="0" presId="urn:microsoft.com/office/officeart/2018/5/layout/CenteredIconLabelDescriptionList"/>
    <dgm:cxn modelId="{6F67D73F-1CB7-47A9-A2E6-98D6149F7CD1}" type="presParOf" srcId="{690EEE32-6ED6-4614-8BDA-E64EDD2A1683}" destId="{F4963626-AF3C-40CE-B168-4B38359E8222}" srcOrd="0" destOrd="0" presId="urn:microsoft.com/office/officeart/2018/5/layout/CenteredIconLabelDescriptionList"/>
    <dgm:cxn modelId="{886AE3BB-87B1-4A92-AD58-9B17BC0BE2B4}" type="presParOf" srcId="{690EEE32-6ED6-4614-8BDA-E64EDD2A1683}" destId="{D75A570A-FC5C-4F9A-AC38-147F069228B3}" srcOrd="1" destOrd="0" presId="urn:microsoft.com/office/officeart/2018/5/layout/CenteredIconLabelDescriptionList"/>
    <dgm:cxn modelId="{64ADAD14-38D0-4E13-BB41-BE7D5DE99028}" type="presParOf" srcId="{690EEE32-6ED6-4614-8BDA-E64EDD2A1683}" destId="{AEFB6118-04E7-4E39-AA1B-B9EBEDB20148}" srcOrd="2" destOrd="0" presId="urn:microsoft.com/office/officeart/2018/5/layout/CenteredIconLabelDescriptionList"/>
    <dgm:cxn modelId="{A1F30A81-3492-4F9F-AB89-B5E7FE25E239}" type="presParOf" srcId="{690EEE32-6ED6-4614-8BDA-E64EDD2A1683}" destId="{125AE246-E026-4350-A8B2-C89E981B748D}" srcOrd="3" destOrd="0" presId="urn:microsoft.com/office/officeart/2018/5/layout/CenteredIconLabelDescriptionList"/>
    <dgm:cxn modelId="{2B29F074-3319-44E4-A2B7-A7AFB8297D6D}" type="presParOf" srcId="{690EEE32-6ED6-4614-8BDA-E64EDD2A1683}" destId="{CFC125A2-3DFC-4071-B01D-5D8D18407287}"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E3009B-728F-4DA1-9EFF-8C0F1190EAE7}"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568FA4E4-8D7A-432F-AC7B-EDAC5C9B9A2D}">
      <dgm:prSet/>
      <dgm:spPr/>
      <dgm:t>
        <a:bodyPr/>
        <a:lstStyle/>
        <a:p>
          <a:r>
            <a:rPr lang="en-US" b="0" i="0" baseline="0"/>
            <a:t>Patient Inputs (Left Side):	</a:t>
          </a:r>
          <a:endParaRPr lang="en-US"/>
        </a:p>
      </dgm:t>
    </dgm:pt>
    <dgm:pt modelId="{71CCEDF5-C68C-4168-AD33-64786628BE32}" type="parTrans" cxnId="{63CE7850-BE6D-4042-8C28-35E6F0CF515A}">
      <dgm:prSet/>
      <dgm:spPr/>
      <dgm:t>
        <a:bodyPr/>
        <a:lstStyle/>
        <a:p>
          <a:endParaRPr lang="en-US"/>
        </a:p>
      </dgm:t>
    </dgm:pt>
    <dgm:pt modelId="{54B923DD-50BC-4258-A037-432DE053CB42}" type="sibTrans" cxnId="{63CE7850-BE6D-4042-8C28-35E6F0CF515A}">
      <dgm:prSet/>
      <dgm:spPr/>
      <dgm:t>
        <a:bodyPr/>
        <a:lstStyle/>
        <a:p>
          <a:endParaRPr lang="en-US"/>
        </a:p>
      </dgm:t>
    </dgm:pt>
    <dgm:pt modelId="{F728F32B-9C4F-4927-B72D-6C9C172AA0B0}">
      <dgm:prSet/>
      <dgm:spPr/>
      <dgm:t>
        <a:bodyPr/>
        <a:lstStyle/>
        <a:p>
          <a:r>
            <a:rPr lang="en-US" b="0" i="0" baseline="0"/>
            <a:t>Users can input or select values for all model features (e.g., Age, Sex, Cholesterol, Resting BP).</a:t>
          </a:r>
          <a:endParaRPr lang="en-US"/>
        </a:p>
      </dgm:t>
    </dgm:pt>
    <dgm:pt modelId="{CCBD34E5-2854-4E60-9C10-6275176A5212}" type="parTrans" cxnId="{D6BA7D18-6122-40AB-A225-698347219FF9}">
      <dgm:prSet/>
      <dgm:spPr/>
      <dgm:t>
        <a:bodyPr/>
        <a:lstStyle/>
        <a:p>
          <a:endParaRPr lang="en-US"/>
        </a:p>
      </dgm:t>
    </dgm:pt>
    <dgm:pt modelId="{0861CB90-004E-40DC-9141-AD1639B2F7CB}" type="sibTrans" cxnId="{D6BA7D18-6122-40AB-A225-698347219FF9}">
      <dgm:prSet/>
      <dgm:spPr/>
      <dgm:t>
        <a:bodyPr/>
        <a:lstStyle/>
        <a:p>
          <a:endParaRPr lang="en-US"/>
        </a:p>
      </dgm:t>
    </dgm:pt>
    <dgm:pt modelId="{A77DA1DB-F2E9-47B4-989C-8713D449ABE2}">
      <dgm:prSet/>
      <dgm:spPr/>
      <dgm:t>
        <a:bodyPr/>
        <a:lstStyle/>
        <a:p>
          <a:r>
            <a:rPr lang="en-US" b="0" i="0" baseline="0"/>
            <a:t>Decision Threshold (Left Side):</a:t>
          </a:r>
          <a:endParaRPr lang="en-US"/>
        </a:p>
      </dgm:t>
    </dgm:pt>
    <dgm:pt modelId="{23E1402C-1B39-4131-9A38-35E820F86128}" type="parTrans" cxnId="{B47ACB52-79FC-472A-9014-2FC7CAE9F5DF}">
      <dgm:prSet/>
      <dgm:spPr/>
      <dgm:t>
        <a:bodyPr/>
        <a:lstStyle/>
        <a:p>
          <a:endParaRPr lang="en-US"/>
        </a:p>
      </dgm:t>
    </dgm:pt>
    <dgm:pt modelId="{B42A8000-DE87-4C1F-84D0-67A7454CA6FE}" type="sibTrans" cxnId="{B47ACB52-79FC-472A-9014-2FC7CAE9F5DF}">
      <dgm:prSet/>
      <dgm:spPr/>
      <dgm:t>
        <a:bodyPr/>
        <a:lstStyle/>
        <a:p>
          <a:endParaRPr lang="en-US"/>
        </a:p>
      </dgm:t>
    </dgm:pt>
    <dgm:pt modelId="{B7F54EDE-25C9-4EBD-8CC5-4755E53494D2}">
      <dgm:prSet/>
      <dgm:spPr/>
      <dgm:t>
        <a:bodyPr/>
        <a:lstStyle/>
        <a:p>
          <a:r>
            <a:rPr lang="en-US" b="0" i="0" baseline="0"/>
            <a:t>A slider allows the user to adjust the classification threshold</a:t>
          </a:r>
          <a:endParaRPr lang="en-US" dirty="0"/>
        </a:p>
      </dgm:t>
    </dgm:pt>
    <dgm:pt modelId="{5A9780E6-E922-4496-A89D-6227446A7760}" type="parTrans" cxnId="{CAB31462-EF02-4284-AF95-7782FC7F9F0B}">
      <dgm:prSet/>
      <dgm:spPr/>
      <dgm:t>
        <a:bodyPr/>
        <a:lstStyle/>
        <a:p>
          <a:endParaRPr lang="en-US"/>
        </a:p>
      </dgm:t>
    </dgm:pt>
    <dgm:pt modelId="{A2BCC2C2-2F5F-4A23-A696-ECB4CCFDE4C1}" type="sibTrans" cxnId="{CAB31462-EF02-4284-AF95-7782FC7F9F0B}">
      <dgm:prSet/>
      <dgm:spPr/>
      <dgm:t>
        <a:bodyPr/>
        <a:lstStyle/>
        <a:p>
          <a:endParaRPr lang="en-US"/>
        </a:p>
      </dgm:t>
    </dgm:pt>
    <dgm:pt modelId="{75BDEC23-4A89-4D91-90D1-115418F1350F}">
      <dgm:prSet/>
      <dgm:spPr/>
      <dgm:t>
        <a:bodyPr/>
        <a:lstStyle/>
        <a:p>
          <a:r>
            <a:rPr lang="en-US" b="0" i="0" baseline="0"/>
            <a:t>Prediction Results (Center):</a:t>
          </a:r>
          <a:endParaRPr lang="en-US"/>
        </a:p>
      </dgm:t>
    </dgm:pt>
    <dgm:pt modelId="{C2CC2AC4-8344-44A4-8F82-979B4F3CD4E4}" type="parTrans" cxnId="{5C5BB47C-D83C-4CC6-9392-5425CC2C3A6B}">
      <dgm:prSet/>
      <dgm:spPr/>
      <dgm:t>
        <a:bodyPr/>
        <a:lstStyle/>
        <a:p>
          <a:endParaRPr lang="en-US"/>
        </a:p>
      </dgm:t>
    </dgm:pt>
    <dgm:pt modelId="{E04AE113-F6C8-4617-9E58-6E8AD5E1833B}" type="sibTrans" cxnId="{5C5BB47C-D83C-4CC6-9392-5425CC2C3A6B}">
      <dgm:prSet/>
      <dgm:spPr/>
      <dgm:t>
        <a:bodyPr/>
        <a:lstStyle/>
        <a:p>
          <a:endParaRPr lang="en-US"/>
        </a:p>
      </dgm:t>
    </dgm:pt>
    <dgm:pt modelId="{66ECE682-AB43-4B87-91C2-CFC289F5B200}">
      <dgm:prSet/>
      <dgm:spPr/>
      <dgm:t>
        <a:bodyPr/>
        <a:lstStyle/>
        <a:p>
          <a:r>
            <a:rPr lang="en-US" b="0" i="0" baseline="0"/>
            <a:t>After pressing "Predict," the result is displayed.</a:t>
          </a:r>
          <a:endParaRPr lang="en-US"/>
        </a:p>
      </dgm:t>
    </dgm:pt>
    <dgm:pt modelId="{2D0C60B4-4BD4-4402-88C2-02367784A55A}" type="parTrans" cxnId="{3DC71103-097C-48CC-AA7E-C1C5E1D740B7}">
      <dgm:prSet/>
      <dgm:spPr/>
      <dgm:t>
        <a:bodyPr/>
        <a:lstStyle/>
        <a:p>
          <a:endParaRPr lang="en-US"/>
        </a:p>
      </dgm:t>
    </dgm:pt>
    <dgm:pt modelId="{BDE4103E-A885-4EA2-BDFF-DC1CBB86C641}" type="sibTrans" cxnId="{3DC71103-097C-48CC-AA7E-C1C5E1D740B7}">
      <dgm:prSet/>
      <dgm:spPr/>
      <dgm:t>
        <a:bodyPr/>
        <a:lstStyle/>
        <a:p>
          <a:endParaRPr lang="en-US"/>
        </a:p>
      </dgm:t>
    </dgm:pt>
    <dgm:pt modelId="{99E93EFA-8F9D-4D5D-A0E1-517A98D10442}">
      <dgm:prSet/>
      <dgm:spPr/>
      <dgm:t>
        <a:bodyPr/>
        <a:lstStyle/>
        <a:p>
          <a:r>
            <a:rPr lang="en-US" b="0" i="0" baseline="0"/>
            <a:t>Shows the final "Low Risk" or "High Risk" classification.</a:t>
          </a:r>
          <a:endParaRPr lang="en-US"/>
        </a:p>
      </dgm:t>
    </dgm:pt>
    <dgm:pt modelId="{86DE2737-D1D8-4F6B-A850-6F3484A08D24}" type="parTrans" cxnId="{C07DDC77-77F9-486D-A254-B49D75BE6709}">
      <dgm:prSet/>
      <dgm:spPr/>
      <dgm:t>
        <a:bodyPr/>
        <a:lstStyle/>
        <a:p>
          <a:endParaRPr lang="en-US"/>
        </a:p>
      </dgm:t>
    </dgm:pt>
    <dgm:pt modelId="{5D877E03-910E-4365-AAB1-00B1A5B861C2}" type="sibTrans" cxnId="{C07DDC77-77F9-486D-A254-B49D75BE6709}">
      <dgm:prSet/>
      <dgm:spPr/>
      <dgm:t>
        <a:bodyPr/>
        <a:lstStyle/>
        <a:p>
          <a:endParaRPr lang="en-US"/>
        </a:p>
      </dgm:t>
    </dgm:pt>
    <dgm:pt modelId="{A559BF63-1D52-4013-836C-100B4387B8CF}">
      <dgm:prSet/>
      <dgm:spPr/>
      <dgm:t>
        <a:bodyPr/>
        <a:lstStyle/>
        <a:p>
          <a:r>
            <a:rPr lang="en-US" b="0" i="0" baseline="0"/>
            <a:t>Displays the exact "Predicted Probability of Heart Disease" (e.g., 0.773).</a:t>
          </a:r>
          <a:endParaRPr lang="en-US" dirty="0"/>
        </a:p>
      </dgm:t>
    </dgm:pt>
    <dgm:pt modelId="{5B8DFDAD-3A57-451E-9396-1C27D3B75C9B}" type="parTrans" cxnId="{238EDD08-A420-4AE9-B49C-81083DB76D10}">
      <dgm:prSet/>
      <dgm:spPr/>
      <dgm:t>
        <a:bodyPr/>
        <a:lstStyle/>
        <a:p>
          <a:endParaRPr lang="en-US"/>
        </a:p>
      </dgm:t>
    </dgm:pt>
    <dgm:pt modelId="{921F4938-3D43-4D3E-9815-A9C890CD06B4}" type="sibTrans" cxnId="{238EDD08-A420-4AE9-B49C-81083DB76D10}">
      <dgm:prSet/>
      <dgm:spPr/>
      <dgm:t>
        <a:bodyPr/>
        <a:lstStyle/>
        <a:p>
          <a:endParaRPr lang="en-US"/>
        </a:p>
      </dgm:t>
    </dgm:pt>
    <dgm:pt modelId="{4B4550AD-25F1-4431-94B0-D274EE28071A}">
      <dgm:prSet/>
      <dgm:spPr/>
      <dgm:t>
        <a:bodyPr/>
        <a:lstStyle/>
        <a:p>
          <a:r>
            <a:rPr lang="en-US" b="0" i="0" baseline="0"/>
            <a:t>Also shows the specific feature values that were sent to the model.</a:t>
          </a:r>
          <a:endParaRPr lang="en-US" dirty="0"/>
        </a:p>
      </dgm:t>
    </dgm:pt>
    <dgm:pt modelId="{5DDFFEAE-CA4C-4517-B97E-FB64E1507249}" type="parTrans" cxnId="{D8B5E586-5DC3-461C-9500-8AC8D5A7BC75}">
      <dgm:prSet/>
      <dgm:spPr/>
      <dgm:t>
        <a:bodyPr/>
        <a:lstStyle/>
        <a:p>
          <a:endParaRPr lang="en-US"/>
        </a:p>
      </dgm:t>
    </dgm:pt>
    <dgm:pt modelId="{DE85D6C7-2944-47C5-B663-4D415C142E34}" type="sibTrans" cxnId="{D8B5E586-5DC3-461C-9500-8AC8D5A7BC75}">
      <dgm:prSet/>
      <dgm:spPr/>
      <dgm:t>
        <a:bodyPr/>
        <a:lstStyle/>
        <a:p>
          <a:endParaRPr lang="en-US"/>
        </a:p>
      </dgm:t>
    </dgm:pt>
    <dgm:pt modelId="{1FC2EE41-AC51-134F-AC96-E0CCFCA7C1E9}">
      <dgm:prSet/>
      <dgm:spPr/>
      <dgm:t>
        <a:bodyPr/>
        <a:lstStyle/>
        <a:p>
          <a:r>
            <a:rPr lang="en-US" b="0" i="0" baseline="0"/>
            <a:t>A disease is indicated if the resulting probability exceeds this set threshold.</a:t>
          </a:r>
          <a:endParaRPr lang="en-US" dirty="0"/>
        </a:p>
      </dgm:t>
    </dgm:pt>
    <dgm:pt modelId="{F74A9ED4-3218-454B-8C6B-09B46C28E87D}" type="parTrans" cxnId="{88BC654F-28CF-624E-99D3-49C9AF721A3E}">
      <dgm:prSet/>
      <dgm:spPr/>
      <dgm:t>
        <a:bodyPr/>
        <a:lstStyle/>
        <a:p>
          <a:endParaRPr lang="en-US"/>
        </a:p>
      </dgm:t>
    </dgm:pt>
    <dgm:pt modelId="{63B00795-A92E-A346-8CEE-8584AFA2C78C}" type="sibTrans" cxnId="{88BC654F-28CF-624E-99D3-49C9AF721A3E}">
      <dgm:prSet/>
      <dgm:spPr/>
      <dgm:t>
        <a:bodyPr/>
        <a:lstStyle/>
        <a:p>
          <a:endParaRPr lang="en-US"/>
        </a:p>
      </dgm:t>
    </dgm:pt>
    <dgm:pt modelId="{432D37A5-0A1B-4E47-B781-E65263677122}" type="pres">
      <dgm:prSet presAssocID="{6BE3009B-728F-4DA1-9EFF-8C0F1190EAE7}" presName="linear" presStyleCnt="0">
        <dgm:presLayoutVars>
          <dgm:dir/>
          <dgm:animLvl val="lvl"/>
          <dgm:resizeHandles val="exact"/>
        </dgm:presLayoutVars>
      </dgm:prSet>
      <dgm:spPr/>
    </dgm:pt>
    <dgm:pt modelId="{0904D9A8-71F9-1C4C-8554-2794976F7F63}" type="pres">
      <dgm:prSet presAssocID="{568FA4E4-8D7A-432F-AC7B-EDAC5C9B9A2D}" presName="parentLin" presStyleCnt="0"/>
      <dgm:spPr/>
    </dgm:pt>
    <dgm:pt modelId="{D210D3AF-7365-804D-B228-B18702B9E5A1}" type="pres">
      <dgm:prSet presAssocID="{568FA4E4-8D7A-432F-AC7B-EDAC5C9B9A2D}" presName="parentLeftMargin" presStyleLbl="node1" presStyleIdx="0" presStyleCnt="3"/>
      <dgm:spPr/>
    </dgm:pt>
    <dgm:pt modelId="{58C22C6D-0FBD-6C47-AF0F-D93673599AB3}" type="pres">
      <dgm:prSet presAssocID="{568FA4E4-8D7A-432F-AC7B-EDAC5C9B9A2D}" presName="parentText" presStyleLbl="node1" presStyleIdx="0" presStyleCnt="3">
        <dgm:presLayoutVars>
          <dgm:chMax val="0"/>
          <dgm:bulletEnabled val="1"/>
        </dgm:presLayoutVars>
      </dgm:prSet>
      <dgm:spPr/>
    </dgm:pt>
    <dgm:pt modelId="{1DE5E52E-C046-DC41-99B6-D57B3D9B87AF}" type="pres">
      <dgm:prSet presAssocID="{568FA4E4-8D7A-432F-AC7B-EDAC5C9B9A2D}" presName="negativeSpace" presStyleCnt="0"/>
      <dgm:spPr/>
    </dgm:pt>
    <dgm:pt modelId="{BC175868-2494-7644-8FE9-B468A59728B6}" type="pres">
      <dgm:prSet presAssocID="{568FA4E4-8D7A-432F-AC7B-EDAC5C9B9A2D}" presName="childText" presStyleLbl="conFgAcc1" presStyleIdx="0" presStyleCnt="3">
        <dgm:presLayoutVars>
          <dgm:bulletEnabled val="1"/>
        </dgm:presLayoutVars>
      </dgm:prSet>
      <dgm:spPr/>
    </dgm:pt>
    <dgm:pt modelId="{876E5E0F-5E2E-6342-9F30-3499F8B7218C}" type="pres">
      <dgm:prSet presAssocID="{54B923DD-50BC-4258-A037-432DE053CB42}" presName="spaceBetweenRectangles" presStyleCnt="0"/>
      <dgm:spPr/>
    </dgm:pt>
    <dgm:pt modelId="{3B6D1210-3E34-0044-A6E1-15E5D7D2B82C}" type="pres">
      <dgm:prSet presAssocID="{A77DA1DB-F2E9-47B4-989C-8713D449ABE2}" presName="parentLin" presStyleCnt="0"/>
      <dgm:spPr/>
    </dgm:pt>
    <dgm:pt modelId="{61163C6F-E08D-674E-B675-73AC12A2696F}" type="pres">
      <dgm:prSet presAssocID="{A77DA1DB-F2E9-47B4-989C-8713D449ABE2}" presName="parentLeftMargin" presStyleLbl="node1" presStyleIdx="0" presStyleCnt="3"/>
      <dgm:spPr/>
    </dgm:pt>
    <dgm:pt modelId="{BB02ACB2-8F75-3F4C-B807-A9F9AC51C684}" type="pres">
      <dgm:prSet presAssocID="{A77DA1DB-F2E9-47B4-989C-8713D449ABE2}" presName="parentText" presStyleLbl="node1" presStyleIdx="1" presStyleCnt="3">
        <dgm:presLayoutVars>
          <dgm:chMax val="0"/>
          <dgm:bulletEnabled val="1"/>
        </dgm:presLayoutVars>
      </dgm:prSet>
      <dgm:spPr/>
    </dgm:pt>
    <dgm:pt modelId="{D273B812-2044-A04B-AA3B-08339311FA85}" type="pres">
      <dgm:prSet presAssocID="{A77DA1DB-F2E9-47B4-989C-8713D449ABE2}" presName="negativeSpace" presStyleCnt="0"/>
      <dgm:spPr/>
    </dgm:pt>
    <dgm:pt modelId="{407120E0-96A1-644C-B08C-DFC4BB32520C}" type="pres">
      <dgm:prSet presAssocID="{A77DA1DB-F2E9-47B4-989C-8713D449ABE2}" presName="childText" presStyleLbl="conFgAcc1" presStyleIdx="1" presStyleCnt="3">
        <dgm:presLayoutVars>
          <dgm:bulletEnabled val="1"/>
        </dgm:presLayoutVars>
      </dgm:prSet>
      <dgm:spPr/>
    </dgm:pt>
    <dgm:pt modelId="{71BDC225-9745-7D43-945A-AD4C5F31BD4C}" type="pres">
      <dgm:prSet presAssocID="{B42A8000-DE87-4C1F-84D0-67A7454CA6FE}" presName="spaceBetweenRectangles" presStyleCnt="0"/>
      <dgm:spPr/>
    </dgm:pt>
    <dgm:pt modelId="{1400019F-4C2D-DD49-BCBB-85306E451918}" type="pres">
      <dgm:prSet presAssocID="{75BDEC23-4A89-4D91-90D1-115418F1350F}" presName="parentLin" presStyleCnt="0"/>
      <dgm:spPr/>
    </dgm:pt>
    <dgm:pt modelId="{07E0CDA5-4D79-0247-93EF-2DE707B08E6B}" type="pres">
      <dgm:prSet presAssocID="{75BDEC23-4A89-4D91-90D1-115418F1350F}" presName="parentLeftMargin" presStyleLbl="node1" presStyleIdx="1" presStyleCnt="3"/>
      <dgm:spPr/>
    </dgm:pt>
    <dgm:pt modelId="{23449B3E-806C-884F-96DE-B753C5B862AC}" type="pres">
      <dgm:prSet presAssocID="{75BDEC23-4A89-4D91-90D1-115418F1350F}" presName="parentText" presStyleLbl="node1" presStyleIdx="2" presStyleCnt="3">
        <dgm:presLayoutVars>
          <dgm:chMax val="0"/>
          <dgm:bulletEnabled val="1"/>
        </dgm:presLayoutVars>
      </dgm:prSet>
      <dgm:spPr/>
    </dgm:pt>
    <dgm:pt modelId="{9F165E0A-F10A-EA4C-8C38-CB5315F72D87}" type="pres">
      <dgm:prSet presAssocID="{75BDEC23-4A89-4D91-90D1-115418F1350F}" presName="negativeSpace" presStyleCnt="0"/>
      <dgm:spPr/>
    </dgm:pt>
    <dgm:pt modelId="{8C15A3C6-FC8A-634B-992F-944C31E8237E}" type="pres">
      <dgm:prSet presAssocID="{75BDEC23-4A89-4D91-90D1-115418F1350F}" presName="childText" presStyleLbl="conFgAcc1" presStyleIdx="2" presStyleCnt="3">
        <dgm:presLayoutVars>
          <dgm:bulletEnabled val="1"/>
        </dgm:presLayoutVars>
      </dgm:prSet>
      <dgm:spPr/>
    </dgm:pt>
  </dgm:ptLst>
  <dgm:cxnLst>
    <dgm:cxn modelId="{3DC71103-097C-48CC-AA7E-C1C5E1D740B7}" srcId="{75BDEC23-4A89-4D91-90D1-115418F1350F}" destId="{66ECE682-AB43-4B87-91C2-CFC289F5B200}" srcOrd="0" destOrd="0" parTransId="{2D0C60B4-4BD4-4402-88C2-02367784A55A}" sibTransId="{BDE4103E-A885-4EA2-BDFF-DC1CBB86C641}"/>
    <dgm:cxn modelId="{238EDD08-A420-4AE9-B49C-81083DB76D10}" srcId="{75BDEC23-4A89-4D91-90D1-115418F1350F}" destId="{A559BF63-1D52-4013-836C-100B4387B8CF}" srcOrd="2" destOrd="0" parTransId="{5B8DFDAD-3A57-451E-9396-1C27D3B75C9B}" sibTransId="{921F4938-3D43-4D3E-9815-A9C890CD06B4}"/>
    <dgm:cxn modelId="{0BA99D10-2287-484D-8753-F37A27FF56EC}" type="presOf" srcId="{6BE3009B-728F-4DA1-9EFF-8C0F1190EAE7}" destId="{432D37A5-0A1B-4E47-B781-E65263677122}" srcOrd="0" destOrd="0" presId="urn:microsoft.com/office/officeart/2005/8/layout/list1"/>
    <dgm:cxn modelId="{D6BA7D18-6122-40AB-A225-698347219FF9}" srcId="{568FA4E4-8D7A-432F-AC7B-EDAC5C9B9A2D}" destId="{F728F32B-9C4F-4927-B72D-6C9C172AA0B0}" srcOrd="0" destOrd="0" parTransId="{CCBD34E5-2854-4E60-9C10-6275176A5212}" sibTransId="{0861CB90-004E-40DC-9141-AD1639B2F7CB}"/>
    <dgm:cxn modelId="{CE85501C-CCE6-FB43-AB47-AD40445D37FC}" type="presOf" srcId="{1FC2EE41-AC51-134F-AC96-E0CCFCA7C1E9}" destId="{407120E0-96A1-644C-B08C-DFC4BB32520C}" srcOrd="0" destOrd="1" presId="urn:microsoft.com/office/officeart/2005/8/layout/list1"/>
    <dgm:cxn modelId="{B01C4126-943D-CA40-9B30-08CDFBB4F1FE}" type="presOf" srcId="{568FA4E4-8D7A-432F-AC7B-EDAC5C9B9A2D}" destId="{D210D3AF-7365-804D-B228-B18702B9E5A1}" srcOrd="0" destOrd="0" presId="urn:microsoft.com/office/officeart/2005/8/layout/list1"/>
    <dgm:cxn modelId="{E819812C-F2C6-5B4B-84B6-BEE094344911}" type="presOf" srcId="{A77DA1DB-F2E9-47B4-989C-8713D449ABE2}" destId="{61163C6F-E08D-674E-B675-73AC12A2696F}" srcOrd="0" destOrd="0" presId="urn:microsoft.com/office/officeart/2005/8/layout/list1"/>
    <dgm:cxn modelId="{394C2C30-A7C0-444F-8396-7165469D7DED}" type="presOf" srcId="{568FA4E4-8D7A-432F-AC7B-EDAC5C9B9A2D}" destId="{58C22C6D-0FBD-6C47-AF0F-D93673599AB3}" srcOrd="1" destOrd="0" presId="urn:microsoft.com/office/officeart/2005/8/layout/list1"/>
    <dgm:cxn modelId="{E0457839-8175-CE4B-BB7F-C9C22D20BF2A}" type="presOf" srcId="{A559BF63-1D52-4013-836C-100B4387B8CF}" destId="{8C15A3C6-FC8A-634B-992F-944C31E8237E}" srcOrd="0" destOrd="2" presId="urn:microsoft.com/office/officeart/2005/8/layout/list1"/>
    <dgm:cxn modelId="{88BC654F-28CF-624E-99D3-49C9AF721A3E}" srcId="{A77DA1DB-F2E9-47B4-989C-8713D449ABE2}" destId="{1FC2EE41-AC51-134F-AC96-E0CCFCA7C1E9}" srcOrd="1" destOrd="0" parTransId="{F74A9ED4-3218-454B-8C6B-09B46C28E87D}" sibTransId="{63B00795-A92E-A346-8CEE-8584AFA2C78C}"/>
    <dgm:cxn modelId="{63CE7850-BE6D-4042-8C28-35E6F0CF515A}" srcId="{6BE3009B-728F-4DA1-9EFF-8C0F1190EAE7}" destId="{568FA4E4-8D7A-432F-AC7B-EDAC5C9B9A2D}" srcOrd="0" destOrd="0" parTransId="{71CCEDF5-C68C-4168-AD33-64786628BE32}" sibTransId="{54B923DD-50BC-4258-A037-432DE053CB42}"/>
    <dgm:cxn modelId="{B47ACB52-79FC-472A-9014-2FC7CAE9F5DF}" srcId="{6BE3009B-728F-4DA1-9EFF-8C0F1190EAE7}" destId="{A77DA1DB-F2E9-47B4-989C-8713D449ABE2}" srcOrd="1" destOrd="0" parTransId="{23E1402C-1B39-4131-9A38-35E820F86128}" sibTransId="{B42A8000-DE87-4C1F-84D0-67A7454CA6FE}"/>
    <dgm:cxn modelId="{CAB31462-EF02-4284-AF95-7782FC7F9F0B}" srcId="{A77DA1DB-F2E9-47B4-989C-8713D449ABE2}" destId="{B7F54EDE-25C9-4EBD-8CC5-4755E53494D2}" srcOrd="0" destOrd="0" parTransId="{5A9780E6-E922-4496-A89D-6227446A7760}" sibTransId="{A2BCC2C2-2F5F-4A23-A696-ECB4CCFDE4C1}"/>
    <dgm:cxn modelId="{33C88E66-FC87-BD47-96F8-C23C7838FF06}" type="presOf" srcId="{99E93EFA-8F9D-4D5D-A0E1-517A98D10442}" destId="{8C15A3C6-FC8A-634B-992F-944C31E8237E}" srcOrd="0" destOrd="1" presId="urn:microsoft.com/office/officeart/2005/8/layout/list1"/>
    <dgm:cxn modelId="{C07DDC77-77F9-486D-A254-B49D75BE6709}" srcId="{75BDEC23-4A89-4D91-90D1-115418F1350F}" destId="{99E93EFA-8F9D-4D5D-A0E1-517A98D10442}" srcOrd="1" destOrd="0" parTransId="{86DE2737-D1D8-4F6B-A850-6F3484A08D24}" sibTransId="{5D877E03-910E-4365-AAB1-00B1A5B861C2}"/>
    <dgm:cxn modelId="{5C5BB47C-D83C-4CC6-9392-5425CC2C3A6B}" srcId="{6BE3009B-728F-4DA1-9EFF-8C0F1190EAE7}" destId="{75BDEC23-4A89-4D91-90D1-115418F1350F}" srcOrd="2" destOrd="0" parTransId="{C2CC2AC4-8344-44A4-8F82-979B4F3CD4E4}" sibTransId="{E04AE113-F6C8-4617-9E58-6E8AD5E1833B}"/>
    <dgm:cxn modelId="{B1EF467E-3908-2143-910C-FF71C2D05420}" type="presOf" srcId="{75BDEC23-4A89-4D91-90D1-115418F1350F}" destId="{07E0CDA5-4D79-0247-93EF-2DE707B08E6B}" srcOrd="0" destOrd="0" presId="urn:microsoft.com/office/officeart/2005/8/layout/list1"/>
    <dgm:cxn modelId="{3C4F2881-F5B3-9649-80D6-9E526F872C79}" type="presOf" srcId="{A77DA1DB-F2E9-47B4-989C-8713D449ABE2}" destId="{BB02ACB2-8F75-3F4C-B807-A9F9AC51C684}" srcOrd="1" destOrd="0" presId="urn:microsoft.com/office/officeart/2005/8/layout/list1"/>
    <dgm:cxn modelId="{D8B5E586-5DC3-461C-9500-8AC8D5A7BC75}" srcId="{75BDEC23-4A89-4D91-90D1-115418F1350F}" destId="{4B4550AD-25F1-4431-94B0-D274EE28071A}" srcOrd="3" destOrd="0" parTransId="{5DDFFEAE-CA4C-4517-B97E-FB64E1507249}" sibTransId="{DE85D6C7-2944-47C5-B663-4D415C142E34}"/>
    <dgm:cxn modelId="{8BCA349B-343A-8B42-8A2B-96D393C8D57E}" type="presOf" srcId="{F728F32B-9C4F-4927-B72D-6C9C172AA0B0}" destId="{BC175868-2494-7644-8FE9-B468A59728B6}" srcOrd="0" destOrd="0" presId="urn:microsoft.com/office/officeart/2005/8/layout/list1"/>
    <dgm:cxn modelId="{7A2E0F9E-53AD-CE4F-9100-D66794C4AB8A}" type="presOf" srcId="{75BDEC23-4A89-4D91-90D1-115418F1350F}" destId="{23449B3E-806C-884F-96DE-B753C5B862AC}" srcOrd="1" destOrd="0" presId="urn:microsoft.com/office/officeart/2005/8/layout/list1"/>
    <dgm:cxn modelId="{39B1EDB1-1951-8F4F-A801-F1DCC1B2B2BD}" type="presOf" srcId="{4B4550AD-25F1-4431-94B0-D274EE28071A}" destId="{8C15A3C6-FC8A-634B-992F-944C31E8237E}" srcOrd="0" destOrd="3" presId="urn:microsoft.com/office/officeart/2005/8/layout/list1"/>
    <dgm:cxn modelId="{0D2023C0-9822-8A41-956C-7270D5158B16}" type="presOf" srcId="{66ECE682-AB43-4B87-91C2-CFC289F5B200}" destId="{8C15A3C6-FC8A-634B-992F-944C31E8237E}" srcOrd="0" destOrd="0" presId="urn:microsoft.com/office/officeart/2005/8/layout/list1"/>
    <dgm:cxn modelId="{780F3BC2-A5C2-8945-AE02-CB616220DD0A}" type="presOf" srcId="{B7F54EDE-25C9-4EBD-8CC5-4755E53494D2}" destId="{407120E0-96A1-644C-B08C-DFC4BB32520C}" srcOrd="0" destOrd="0" presId="urn:microsoft.com/office/officeart/2005/8/layout/list1"/>
    <dgm:cxn modelId="{FD915806-9297-C648-AC7A-845E483B937B}" type="presParOf" srcId="{432D37A5-0A1B-4E47-B781-E65263677122}" destId="{0904D9A8-71F9-1C4C-8554-2794976F7F63}" srcOrd="0" destOrd="0" presId="urn:microsoft.com/office/officeart/2005/8/layout/list1"/>
    <dgm:cxn modelId="{718BA4C3-78A0-344B-B1B9-CE988D264412}" type="presParOf" srcId="{0904D9A8-71F9-1C4C-8554-2794976F7F63}" destId="{D210D3AF-7365-804D-B228-B18702B9E5A1}" srcOrd="0" destOrd="0" presId="urn:microsoft.com/office/officeart/2005/8/layout/list1"/>
    <dgm:cxn modelId="{43099D1E-65C8-2C4D-A3F4-99ED434BA258}" type="presParOf" srcId="{0904D9A8-71F9-1C4C-8554-2794976F7F63}" destId="{58C22C6D-0FBD-6C47-AF0F-D93673599AB3}" srcOrd="1" destOrd="0" presId="urn:microsoft.com/office/officeart/2005/8/layout/list1"/>
    <dgm:cxn modelId="{CD73D40A-E22D-274B-9151-AE23119D0D6B}" type="presParOf" srcId="{432D37A5-0A1B-4E47-B781-E65263677122}" destId="{1DE5E52E-C046-DC41-99B6-D57B3D9B87AF}" srcOrd="1" destOrd="0" presId="urn:microsoft.com/office/officeart/2005/8/layout/list1"/>
    <dgm:cxn modelId="{C3C23E33-6328-D34D-A20F-6424A4AE98CF}" type="presParOf" srcId="{432D37A5-0A1B-4E47-B781-E65263677122}" destId="{BC175868-2494-7644-8FE9-B468A59728B6}" srcOrd="2" destOrd="0" presId="urn:microsoft.com/office/officeart/2005/8/layout/list1"/>
    <dgm:cxn modelId="{869218B8-CD35-3E4E-8F75-8B2D4C01634F}" type="presParOf" srcId="{432D37A5-0A1B-4E47-B781-E65263677122}" destId="{876E5E0F-5E2E-6342-9F30-3499F8B7218C}" srcOrd="3" destOrd="0" presId="urn:microsoft.com/office/officeart/2005/8/layout/list1"/>
    <dgm:cxn modelId="{5D85FFFB-38A6-2A4F-A765-200D96DECDAD}" type="presParOf" srcId="{432D37A5-0A1B-4E47-B781-E65263677122}" destId="{3B6D1210-3E34-0044-A6E1-15E5D7D2B82C}" srcOrd="4" destOrd="0" presId="urn:microsoft.com/office/officeart/2005/8/layout/list1"/>
    <dgm:cxn modelId="{617E7B1C-E0BA-6443-AFB4-EBF759A107BF}" type="presParOf" srcId="{3B6D1210-3E34-0044-A6E1-15E5D7D2B82C}" destId="{61163C6F-E08D-674E-B675-73AC12A2696F}" srcOrd="0" destOrd="0" presId="urn:microsoft.com/office/officeart/2005/8/layout/list1"/>
    <dgm:cxn modelId="{A60B1EE1-B722-FC47-9FB5-19FD474C81EE}" type="presParOf" srcId="{3B6D1210-3E34-0044-A6E1-15E5D7D2B82C}" destId="{BB02ACB2-8F75-3F4C-B807-A9F9AC51C684}" srcOrd="1" destOrd="0" presId="urn:microsoft.com/office/officeart/2005/8/layout/list1"/>
    <dgm:cxn modelId="{2643450F-091D-0048-8BB4-30585F1C033A}" type="presParOf" srcId="{432D37A5-0A1B-4E47-B781-E65263677122}" destId="{D273B812-2044-A04B-AA3B-08339311FA85}" srcOrd="5" destOrd="0" presId="urn:microsoft.com/office/officeart/2005/8/layout/list1"/>
    <dgm:cxn modelId="{1AF48184-FEC4-524F-8E10-70C2E7CD0414}" type="presParOf" srcId="{432D37A5-0A1B-4E47-B781-E65263677122}" destId="{407120E0-96A1-644C-B08C-DFC4BB32520C}" srcOrd="6" destOrd="0" presId="urn:microsoft.com/office/officeart/2005/8/layout/list1"/>
    <dgm:cxn modelId="{F1CE01E0-E9C1-8A42-B8FC-AB578C499FA1}" type="presParOf" srcId="{432D37A5-0A1B-4E47-B781-E65263677122}" destId="{71BDC225-9745-7D43-945A-AD4C5F31BD4C}" srcOrd="7" destOrd="0" presId="urn:microsoft.com/office/officeart/2005/8/layout/list1"/>
    <dgm:cxn modelId="{E22D1242-6DAB-094F-868C-60789ECBA418}" type="presParOf" srcId="{432D37A5-0A1B-4E47-B781-E65263677122}" destId="{1400019F-4C2D-DD49-BCBB-85306E451918}" srcOrd="8" destOrd="0" presId="urn:microsoft.com/office/officeart/2005/8/layout/list1"/>
    <dgm:cxn modelId="{1FE267D5-659F-3345-A43A-1AF09A887BF1}" type="presParOf" srcId="{1400019F-4C2D-DD49-BCBB-85306E451918}" destId="{07E0CDA5-4D79-0247-93EF-2DE707B08E6B}" srcOrd="0" destOrd="0" presId="urn:microsoft.com/office/officeart/2005/8/layout/list1"/>
    <dgm:cxn modelId="{BF5B07CC-9790-D24B-8850-07B77F49E8A9}" type="presParOf" srcId="{1400019F-4C2D-DD49-BCBB-85306E451918}" destId="{23449B3E-806C-884F-96DE-B753C5B862AC}" srcOrd="1" destOrd="0" presId="urn:microsoft.com/office/officeart/2005/8/layout/list1"/>
    <dgm:cxn modelId="{D0C100AB-87C3-5C4F-B828-C0FA8F16F90A}" type="presParOf" srcId="{432D37A5-0A1B-4E47-B781-E65263677122}" destId="{9F165E0A-F10A-EA4C-8C38-CB5315F72D87}" srcOrd="9" destOrd="0" presId="urn:microsoft.com/office/officeart/2005/8/layout/list1"/>
    <dgm:cxn modelId="{587ADAF4-67C8-1C4E-A2C6-7D5147EA2939}" type="presParOf" srcId="{432D37A5-0A1B-4E47-B781-E65263677122}" destId="{8C15A3C6-FC8A-634B-992F-944C31E8237E}"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2A2BF8-D6AD-4779-922C-2F9A01C0632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0F59EFC-9FB6-4CE1-A64F-5A7A52E26854}">
      <dgm:prSet/>
      <dgm:spPr/>
      <dgm:t>
        <a:bodyPr/>
        <a:lstStyle/>
        <a:p>
          <a:r>
            <a:rPr lang="en-US" dirty="0"/>
            <a:t>Moving beyond simple prediction, this technology lays the groundwork for the following systems. </a:t>
          </a:r>
        </a:p>
      </dgm:t>
    </dgm:pt>
    <dgm:pt modelId="{D9CD21A9-6C35-4EEF-A70C-CCED15E00FED}" type="parTrans" cxnId="{879CE40D-8FAA-419A-A941-ABD65AA4CCDF}">
      <dgm:prSet/>
      <dgm:spPr/>
      <dgm:t>
        <a:bodyPr/>
        <a:lstStyle/>
        <a:p>
          <a:endParaRPr lang="en-US"/>
        </a:p>
      </dgm:t>
    </dgm:pt>
    <dgm:pt modelId="{0AFFEEC5-A0FC-4173-AE3E-1ABB8F2F88F8}" type="sibTrans" cxnId="{879CE40D-8FAA-419A-A941-ABD65AA4CCDF}">
      <dgm:prSet/>
      <dgm:spPr/>
      <dgm:t>
        <a:bodyPr/>
        <a:lstStyle/>
        <a:p>
          <a:endParaRPr lang="en-US"/>
        </a:p>
      </dgm:t>
    </dgm:pt>
    <dgm:pt modelId="{C3160328-8E39-4E7F-9991-DDC4C8A400A9}">
      <dgm:prSet/>
      <dgm:spPr/>
      <dgm:t>
        <a:bodyPr/>
        <a:lstStyle/>
        <a:p>
          <a:r>
            <a:rPr lang="en-US" b="1"/>
            <a:t>Proactive Medicine:</a:t>
          </a:r>
          <a:r>
            <a:rPr lang="en-US"/>
            <a:t> Shifting from reactive treatment to preventative care.</a:t>
          </a:r>
        </a:p>
      </dgm:t>
    </dgm:pt>
    <dgm:pt modelId="{154445CD-3494-4784-AC1D-7C20AE8534ED}" type="parTrans" cxnId="{B8C8A091-0BE4-4C00-B748-B780FF74DDFD}">
      <dgm:prSet/>
      <dgm:spPr/>
      <dgm:t>
        <a:bodyPr/>
        <a:lstStyle/>
        <a:p>
          <a:endParaRPr lang="en-US"/>
        </a:p>
      </dgm:t>
    </dgm:pt>
    <dgm:pt modelId="{2C7A280C-B924-4A2C-800E-51F240B0F3D7}" type="sibTrans" cxnId="{B8C8A091-0BE4-4C00-B748-B780FF74DDFD}">
      <dgm:prSet/>
      <dgm:spPr/>
      <dgm:t>
        <a:bodyPr/>
        <a:lstStyle/>
        <a:p>
          <a:endParaRPr lang="en-US"/>
        </a:p>
      </dgm:t>
    </dgm:pt>
    <dgm:pt modelId="{55091DC6-B0C6-471F-A894-258ECD03B24C}">
      <dgm:prSet/>
      <dgm:spPr/>
      <dgm:t>
        <a:bodyPr/>
        <a:lstStyle/>
        <a:p>
          <a:r>
            <a:rPr lang="en-US" b="1"/>
            <a:t>Remote Monitoring:</a:t>
          </a:r>
          <a:r>
            <a:rPr lang="en-US"/>
            <a:t> Integrating with wearables to monitor high-risk patients 24/7.</a:t>
          </a:r>
        </a:p>
      </dgm:t>
    </dgm:pt>
    <dgm:pt modelId="{CAC83653-546E-454D-8F36-3D3697E0F506}" type="parTrans" cxnId="{A0572FD3-9BBA-4AC1-A5C7-E9A7E8FD1A1E}">
      <dgm:prSet/>
      <dgm:spPr/>
      <dgm:t>
        <a:bodyPr/>
        <a:lstStyle/>
        <a:p>
          <a:endParaRPr lang="en-US"/>
        </a:p>
      </dgm:t>
    </dgm:pt>
    <dgm:pt modelId="{BB32CDA4-A37C-446F-8749-AF0D4C0704EA}" type="sibTrans" cxnId="{A0572FD3-9BBA-4AC1-A5C7-E9A7E8FD1A1E}">
      <dgm:prSet/>
      <dgm:spPr/>
      <dgm:t>
        <a:bodyPr/>
        <a:lstStyle/>
        <a:p>
          <a:endParaRPr lang="en-US"/>
        </a:p>
      </dgm:t>
    </dgm:pt>
    <dgm:pt modelId="{1D55F4A9-98D8-42E0-9340-AA48B11B3C38}">
      <dgm:prSet/>
      <dgm:spPr/>
      <dgm:t>
        <a:bodyPr/>
        <a:lstStyle/>
        <a:p>
          <a:r>
            <a:rPr lang="en-US" b="1"/>
            <a:t>Resource Optimization:</a:t>
          </a:r>
          <a:r>
            <a:rPr lang="en-US"/>
            <a:t> AI triage systems to prioritize critical cases in emergency rooms.</a:t>
          </a:r>
        </a:p>
      </dgm:t>
    </dgm:pt>
    <dgm:pt modelId="{2C540EEE-F823-4F08-9549-E53C4DEE760A}" type="parTrans" cxnId="{CDCBD9D8-C5AE-4FF1-898C-4795622F631A}">
      <dgm:prSet/>
      <dgm:spPr/>
      <dgm:t>
        <a:bodyPr/>
        <a:lstStyle/>
        <a:p>
          <a:endParaRPr lang="en-US"/>
        </a:p>
      </dgm:t>
    </dgm:pt>
    <dgm:pt modelId="{61506253-8A44-4183-A473-045267E8DD0C}" type="sibTrans" cxnId="{CDCBD9D8-C5AE-4FF1-898C-4795622F631A}">
      <dgm:prSet/>
      <dgm:spPr/>
      <dgm:t>
        <a:bodyPr/>
        <a:lstStyle/>
        <a:p>
          <a:endParaRPr lang="en-US"/>
        </a:p>
      </dgm:t>
    </dgm:pt>
    <dgm:pt modelId="{85FA1D10-E32A-415B-9A3D-FDA83BC5F76D}" type="pres">
      <dgm:prSet presAssocID="{232A2BF8-D6AD-4779-922C-2F9A01C0632C}" presName="root" presStyleCnt="0">
        <dgm:presLayoutVars>
          <dgm:dir/>
          <dgm:resizeHandles val="exact"/>
        </dgm:presLayoutVars>
      </dgm:prSet>
      <dgm:spPr/>
    </dgm:pt>
    <dgm:pt modelId="{D1249D17-88F3-48CD-BEF4-D4EAF18EA40B}" type="pres">
      <dgm:prSet presAssocID="{60F59EFC-9FB6-4CE1-A64F-5A7A52E26854}" presName="compNode" presStyleCnt="0"/>
      <dgm:spPr/>
    </dgm:pt>
    <dgm:pt modelId="{9A700E51-7706-4684-A197-8AFED593E46B}" type="pres">
      <dgm:prSet presAssocID="{60F59EFC-9FB6-4CE1-A64F-5A7A52E26854}" presName="bgRect" presStyleLbl="bgShp" presStyleIdx="0" presStyleCnt="4"/>
      <dgm:spPr/>
    </dgm:pt>
    <dgm:pt modelId="{2720EB09-3ECF-4BEF-99A7-1B98FEB242C4}" type="pres">
      <dgm:prSet presAssocID="{60F59EFC-9FB6-4CE1-A64F-5A7A52E2685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CB8343B8-2C62-4C6C-BF9A-59AC0520CB94}" type="pres">
      <dgm:prSet presAssocID="{60F59EFC-9FB6-4CE1-A64F-5A7A52E26854}" presName="spaceRect" presStyleCnt="0"/>
      <dgm:spPr/>
    </dgm:pt>
    <dgm:pt modelId="{B9B10D68-D002-43B7-B2FF-9978A0112E1E}" type="pres">
      <dgm:prSet presAssocID="{60F59EFC-9FB6-4CE1-A64F-5A7A52E26854}" presName="parTx" presStyleLbl="revTx" presStyleIdx="0" presStyleCnt="4">
        <dgm:presLayoutVars>
          <dgm:chMax val="0"/>
          <dgm:chPref val="0"/>
        </dgm:presLayoutVars>
      </dgm:prSet>
      <dgm:spPr/>
    </dgm:pt>
    <dgm:pt modelId="{F4739F4B-E7C5-45EB-B58F-E9D32B58F739}" type="pres">
      <dgm:prSet presAssocID="{0AFFEEC5-A0FC-4173-AE3E-1ABB8F2F88F8}" presName="sibTrans" presStyleCnt="0"/>
      <dgm:spPr/>
    </dgm:pt>
    <dgm:pt modelId="{92893AF7-F6E3-46F2-ABBD-6E042B1875F5}" type="pres">
      <dgm:prSet presAssocID="{C3160328-8E39-4E7F-9991-DDC4C8A400A9}" presName="compNode" presStyleCnt="0"/>
      <dgm:spPr/>
    </dgm:pt>
    <dgm:pt modelId="{ADA9E6EB-E046-4083-95E0-2853DEE2A203}" type="pres">
      <dgm:prSet presAssocID="{C3160328-8E39-4E7F-9991-DDC4C8A400A9}" presName="bgRect" presStyleLbl="bgShp" presStyleIdx="1" presStyleCnt="4"/>
      <dgm:spPr/>
    </dgm:pt>
    <dgm:pt modelId="{5D86B515-67CD-4DEA-971F-756BEB90E5BF}" type="pres">
      <dgm:prSet presAssocID="{C3160328-8E39-4E7F-9991-DDC4C8A400A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dicine"/>
        </a:ext>
      </dgm:extLst>
    </dgm:pt>
    <dgm:pt modelId="{8A3C6598-D1FA-42B0-BEA8-DB8C2D681CE2}" type="pres">
      <dgm:prSet presAssocID="{C3160328-8E39-4E7F-9991-DDC4C8A400A9}" presName="spaceRect" presStyleCnt="0"/>
      <dgm:spPr/>
    </dgm:pt>
    <dgm:pt modelId="{5071747D-A18F-4838-9177-C791F6419D06}" type="pres">
      <dgm:prSet presAssocID="{C3160328-8E39-4E7F-9991-DDC4C8A400A9}" presName="parTx" presStyleLbl="revTx" presStyleIdx="1" presStyleCnt="4">
        <dgm:presLayoutVars>
          <dgm:chMax val="0"/>
          <dgm:chPref val="0"/>
        </dgm:presLayoutVars>
      </dgm:prSet>
      <dgm:spPr/>
    </dgm:pt>
    <dgm:pt modelId="{96F972B8-9023-415F-B9E6-F0CF06BD2D4C}" type="pres">
      <dgm:prSet presAssocID="{2C7A280C-B924-4A2C-800E-51F240B0F3D7}" presName="sibTrans" presStyleCnt="0"/>
      <dgm:spPr/>
    </dgm:pt>
    <dgm:pt modelId="{CCF2236D-2870-40A1-A4C5-FC295905E6AA}" type="pres">
      <dgm:prSet presAssocID="{55091DC6-B0C6-471F-A894-258ECD03B24C}" presName="compNode" presStyleCnt="0"/>
      <dgm:spPr/>
    </dgm:pt>
    <dgm:pt modelId="{2163A4FA-729E-4322-9B6F-0F5B7C3AB4CC}" type="pres">
      <dgm:prSet presAssocID="{55091DC6-B0C6-471F-A894-258ECD03B24C}" presName="bgRect" presStyleLbl="bgShp" presStyleIdx="2" presStyleCnt="4"/>
      <dgm:spPr/>
    </dgm:pt>
    <dgm:pt modelId="{3A9ED23E-559C-402B-944B-0652469A674A}" type="pres">
      <dgm:prSet presAssocID="{55091DC6-B0C6-471F-A894-258ECD03B24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mote control"/>
        </a:ext>
      </dgm:extLst>
    </dgm:pt>
    <dgm:pt modelId="{BF44F864-C257-40A1-9B7F-9E9C3493FFFC}" type="pres">
      <dgm:prSet presAssocID="{55091DC6-B0C6-471F-A894-258ECD03B24C}" presName="spaceRect" presStyleCnt="0"/>
      <dgm:spPr/>
    </dgm:pt>
    <dgm:pt modelId="{1AC4D13C-6D1A-4D74-9A4C-05BF62B9E25C}" type="pres">
      <dgm:prSet presAssocID="{55091DC6-B0C6-471F-A894-258ECD03B24C}" presName="parTx" presStyleLbl="revTx" presStyleIdx="2" presStyleCnt="4">
        <dgm:presLayoutVars>
          <dgm:chMax val="0"/>
          <dgm:chPref val="0"/>
        </dgm:presLayoutVars>
      </dgm:prSet>
      <dgm:spPr/>
    </dgm:pt>
    <dgm:pt modelId="{6B46362F-7802-4255-93A7-071D4BA0A06E}" type="pres">
      <dgm:prSet presAssocID="{BB32CDA4-A37C-446F-8749-AF0D4C0704EA}" presName="sibTrans" presStyleCnt="0"/>
      <dgm:spPr/>
    </dgm:pt>
    <dgm:pt modelId="{37ECCE88-9342-4C4E-8B43-BE4604792CDA}" type="pres">
      <dgm:prSet presAssocID="{1D55F4A9-98D8-42E0-9340-AA48B11B3C38}" presName="compNode" presStyleCnt="0"/>
      <dgm:spPr/>
    </dgm:pt>
    <dgm:pt modelId="{41B19FFD-D5B0-4E8D-BFEE-AE591266B7D4}" type="pres">
      <dgm:prSet presAssocID="{1D55F4A9-98D8-42E0-9340-AA48B11B3C38}" presName="bgRect" presStyleLbl="bgShp" presStyleIdx="3" presStyleCnt="4"/>
      <dgm:spPr/>
    </dgm:pt>
    <dgm:pt modelId="{5D720109-4AE5-45B0-B252-F1F69CE073D5}" type="pres">
      <dgm:prSet presAssocID="{1D55F4A9-98D8-42E0-9340-AA48B11B3C3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ears"/>
        </a:ext>
      </dgm:extLst>
    </dgm:pt>
    <dgm:pt modelId="{01AB9CD0-D288-4618-BAE5-45BCE8B08ACE}" type="pres">
      <dgm:prSet presAssocID="{1D55F4A9-98D8-42E0-9340-AA48B11B3C38}" presName="spaceRect" presStyleCnt="0"/>
      <dgm:spPr/>
    </dgm:pt>
    <dgm:pt modelId="{0C2E5C6F-8800-45BB-9E85-345E37DEA5DD}" type="pres">
      <dgm:prSet presAssocID="{1D55F4A9-98D8-42E0-9340-AA48B11B3C38}" presName="parTx" presStyleLbl="revTx" presStyleIdx="3" presStyleCnt="4">
        <dgm:presLayoutVars>
          <dgm:chMax val="0"/>
          <dgm:chPref val="0"/>
        </dgm:presLayoutVars>
      </dgm:prSet>
      <dgm:spPr/>
    </dgm:pt>
  </dgm:ptLst>
  <dgm:cxnLst>
    <dgm:cxn modelId="{879CE40D-8FAA-419A-A941-ABD65AA4CCDF}" srcId="{232A2BF8-D6AD-4779-922C-2F9A01C0632C}" destId="{60F59EFC-9FB6-4CE1-A64F-5A7A52E26854}" srcOrd="0" destOrd="0" parTransId="{D9CD21A9-6C35-4EEF-A70C-CCED15E00FED}" sibTransId="{0AFFEEC5-A0FC-4173-AE3E-1ABB8F2F88F8}"/>
    <dgm:cxn modelId="{1BE98A23-455E-4ACD-97CC-47EBAF5CAFED}" type="presOf" srcId="{55091DC6-B0C6-471F-A894-258ECD03B24C}" destId="{1AC4D13C-6D1A-4D74-9A4C-05BF62B9E25C}" srcOrd="0" destOrd="0" presId="urn:microsoft.com/office/officeart/2018/2/layout/IconVerticalSolidList"/>
    <dgm:cxn modelId="{397C6241-1FC0-4810-AB76-9AFCA9EA2646}" type="presOf" srcId="{232A2BF8-D6AD-4779-922C-2F9A01C0632C}" destId="{85FA1D10-E32A-415B-9A3D-FDA83BC5F76D}" srcOrd="0" destOrd="0" presId="urn:microsoft.com/office/officeart/2018/2/layout/IconVerticalSolidList"/>
    <dgm:cxn modelId="{627F5345-589A-4F9B-832D-7D99761F0849}" type="presOf" srcId="{1D55F4A9-98D8-42E0-9340-AA48B11B3C38}" destId="{0C2E5C6F-8800-45BB-9E85-345E37DEA5DD}" srcOrd="0" destOrd="0" presId="urn:microsoft.com/office/officeart/2018/2/layout/IconVerticalSolidList"/>
    <dgm:cxn modelId="{150C4052-8C26-4BE8-A01D-5342AED8E9B1}" type="presOf" srcId="{C3160328-8E39-4E7F-9991-DDC4C8A400A9}" destId="{5071747D-A18F-4838-9177-C791F6419D06}" srcOrd="0" destOrd="0" presId="urn:microsoft.com/office/officeart/2018/2/layout/IconVerticalSolidList"/>
    <dgm:cxn modelId="{B8C8A091-0BE4-4C00-B748-B780FF74DDFD}" srcId="{232A2BF8-D6AD-4779-922C-2F9A01C0632C}" destId="{C3160328-8E39-4E7F-9991-DDC4C8A400A9}" srcOrd="1" destOrd="0" parTransId="{154445CD-3494-4784-AC1D-7C20AE8534ED}" sibTransId="{2C7A280C-B924-4A2C-800E-51F240B0F3D7}"/>
    <dgm:cxn modelId="{A0572FD3-9BBA-4AC1-A5C7-E9A7E8FD1A1E}" srcId="{232A2BF8-D6AD-4779-922C-2F9A01C0632C}" destId="{55091DC6-B0C6-471F-A894-258ECD03B24C}" srcOrd="2" destOrd="0" parTransId="{CAC83653-546E-454D-8F36-3D3697E0F506}" sibTransId="{BB32CDA4-A37C-446F-8749-AF0D4C0704EA}"/>
    <dgm:cxn modelId="{CDCBD9D8-C5AE-4FF1-898C-4795622F631A}" srcId="{232A2BF8-D6AD-4779-922C-2F9A01C0632C}" destId="{1D55F4A9-98D8-42E0-9340-AA48B11B3C38}" srcOrd="3" destOrd="0" parTransId="{2C540EEE-F823-4F08-9549-E53C4DEE760A}" sibTransId="{61506253-8A44-4183-A473-045267E8DD0C}"/>
    <dgm:cxn modelId="{4C424EE4-F85F-4B9D-991F-D48A8DCCFE51}" type="presOf" srcId="{60F59EFC-9FB6-4CE1-A64F-5A7A52E26854}" destId="{B9B10D68-D002-43B7-B2FF-9978A0112E1E}" srcOrd="0" destOrd="0" presId="urn:microsoft.com/office/officeart/2018/2/layout/IconVerticalSolidList"/>
    <dgm:cxn modelId="{CE4D8FF8-FB80-423F-8822-12B72291946E}" type="presParOf" srcId="{85FA1D10-E32A-415B-9A3D-FDA83BC5F76D}" destId="{D1249D17-88F3-48CD-BEF4-D4EAF18EA40B}" srcOrd="0" destOrd="0" presId="urn:microsoft.com/office/officeart/2018/2/layout/IconVerticalSolidList"/>
    <dgm:cxn modelId="{B1DA4285-D056-4573-94AB-3F2C8E147ED6}" type="presParOf" srcId="{D1249D17-88F3-48CD-BEF4-D4EAF18EA40B}" destId="{9A700E51-7706-4684-A197-8AFED593E46B}" srcOrd="0" destOrd="0" presId="urn:microsoft.com/office/officeart/2018/2/layout/IconVerticalSolidList"/>
    <dgm:cxn modelId="{E9CFA358-D891-4760-A272-378D9AC02689}" type="presParOf" srcId="{D1249D17-88F3-48CD-BEF4-D4EAF18EA40B}" destId="{2720EB09-3ECF-4BEF-99A7-1B98FEB242C4}" srcOrd="1" destOrd="0" presId="urn:microsoft.com/office/officeart/2018/2/layout/IconVerticalSolidList"/>
    <dgm:cxn modelId="{EF1CAECE-A631-4838-88ED-ED8B4829A1A5}" type="presParOf" srcId="{D1249D17-88F3-48CD-BEF4-D4EAF18EA40B}" destId="{CB8343B8-2C62-4C6C-BF9A-59AC0520CB94}" srcOrd="2" destOrd="0" presId="urn:microsoft.com/office/officeart/2018/2/layout/IconVerticalSolidList"/>
    <dgm:cxn modelId="{5FE24EE6-583C-4FDA-84F0-CCE006840513}" type="presParOf" srcId="{D1249D17-88F3-48CD-BEF4-D4EAF18EA40B}" destId="{B9B10D68-D002-43B7-B2FF-9978A0112E1E}" srcOrd="3" destOrd="0" presId="urn:microsoft.com/office/officeart/2018/2/layout/IconVerticalSolidList"/>
    <dgm:cxn modelId="{4DCB6807-961A-4EE7-8A64-63D335934B0B}" type="presParOf" srcId="{85FA1D10-E32A-415B-9A3D-FDA83BC5F76D}" destId="{F4739F4B-E7C5-45EB-B58F-E9D32B58F739}" srcOrd="1" destOrd="0" presId="urn:microsoft.com/office/officeart/2018/2/layout/IconVerticalSolidList"/>
    <dgm:cxn modelId="{17A9391E-3536-4EA8-B3C5-B3BD36FEE646}" type="presParOf" srcId="{85FA1D10-E32A-415B-9A3D-FDA83BC5F76D}" destId="{92893AF7-F6E3-46F2-ABBD-6E042B1875F5}" srcOrd="2" destOrd="0" presId="urn:microsoft.com/office/officeart/2018/2/layout/IconVerticalSolidList"/>
    <dgm:cxn modelId="{93C3DB58-CB3C-45DD-9974-C246395C27A5}" type="presParOf" srcId="{92893AF7-F6E3-46F2-ABBD-6E042B1875F5}" destId="{ADA9E6EB-E046-4083-95E0-2853DEE2A203}" srcOrd="0" destOrd="0" presId="urn:microsoft.com/office/officeart/2018/2/layout/IconVerticalSolidList"/>
    <dgm:cxn modelId="{A28DA79C-60B9-4540-BC82-B520F791F62C}" type="presParOf" srcId="{92893AF7-F6E3-46F2-ABBD-6E042B1875F5}" destId="{5D86B515-67CD-4DEA-971F-756BEB90E5BF}" srcOrd="1" destOrd="0" presId="urn:microsoft.com/office/officeart/2018/2/layout/IconVerticalSolidList"/>
    <dgm:cxn modelId="{94370ECF-8E8C-430F-8849-14B7B8CA764D}" type="presParOf" srcId="{92893AF7-F6E3-46F2-ABBD-6E042B1875F5}" destId="{8A3C6598-D1FA-42B0-BEA8-DB8C2D681CE2}" srcOrd="2" destOrd="0" presId="urn:microsoft.com/office/officeart/2018/2/layout/IconVerticalSolidList"/>
    <dgm:cxn modelId="{963F427D-DDC2-4360-BAE7-BCBEA97CC1AB}" type="presParOf" srcId="{92893AF7-F6E3-46F2-ABBD-6E042B1875F5}" destId="{5071747D-A18F-4838-9177-C791F6419D06}" srcOrd="3" destOrd="0" presId="urn:microsoft.com/office/officeart/2018/2/layout/IconVerticalSolidList"/>
    <dgm:cxn modelId="{AC7175B1-BFA2-4D24-916E-7CD0AF686FFD}" type="presParOf" srcId="{85FA1D10-E32A-415B-9A3D-FDA83BC5F76D}" destId="{96F972B8-9023-415F-B9E6-F0CF06BD2D4C}" srcOrd="3" destOrd="0" presId="urn:microsoft.com/office/officeart/2018/2/layout/IconVerticalSolidList"/>
    <dgm:cxn modelId="{AC2D32A6-D011-4340-AEAC-3905F119D004}" type="presParOf" srcId="{85FA1D10-E32A-415B-9A3D-FDA83BC5F76D}" destId="{CCF2236D-2870-40A1-A4C5-FC295905E6AA}" srcOrd="4" destOrd="0" presId="urn:microsoft.com/office/officeart/2018/2/layout/IconVerticalSolidList"/>
    <dgm:cxn modelId="{9FDA5FC5-4022-4013-89BF-5C84D4F848E3}" type="presParOf" srcId="{CCF2236D-2870-40A1-A4C5-FC295905E6AA}" destId="{2163A4FA-729E-4322-9B6F-0F5B7C3AB4CC}" srcOrd="0" destOrd="0" presId="urn:microsoft.com/office/officeart/2018/2/layout/IconVerticalSolidList"/>
    <dgm:cxn modelId="{6FDBBE8F-6061-4FDD-83B9-ABF22CB2EB84}" type="presParOf" srcId="{CCF2236D-2870-40A1-A4C5-FC295905E6AA}" destId="{3A9ED23E-559C-402B-944B-0652469A674A}" srcOrd="1" destOrd="0" presId="urn:microsoft.com/office/officeart/2018/2/layout/IconVerticalSolidList"/>
    <dgm:cxn modelId="{29DB9DFE-E85B-49FE-B411-582A5678F284}" type="presParOf" srcId="{CCF2236D-2870-40A1-A4C5-FC295905E6AA}" destId="{BF44F864-C257-40A1-9B7F-9E9C3493FFFC}" srcOrd="2" destOrd="0" presId="urn:microsoft.com/office/officeart/2018/2/layout/IconVerticalSolidList"/>
    <dgm:cxn modelId="{EB989817-4CA5-4944-891B-95DE91851A8E}" type="presParOf" srcId="{CCF2236D-2870-40A1-A4C5-FC295905E6AA}" destId="{1AC4D13C-6D1A-4D74-9A4C-05BF62B9E25C}" srcOrd="3" destOrd="0" presId="urn:microsoft.com/office/officeart/2018/2/layout/IconVerticalSolidList"/>
    <dgm:cxn modelId="{6F4E094E-C6F8-4A5D-AFB1-0B8F00DDB2D9}" type="presParOf" srcId="{85FA1D10-E32A-415B-9A3D-FDA83BC5F76D}" destId="{6B46362F-7802-4255-93A7-071D4BA0A06E}" srcOrd="5" destOrd="0" presId="urn:microsoft.com/office/officeart/2018/2/layout/IconVerticalSolidList"/>
    <dgm:cxn modelId="{24D59D81-968B-4B6F-A8A1-CCE3BDC38F7E}" type="presParOf" srcId="{85FA1D10-E32A-415B-9A3D-FDA83BC5F76D}" destId="{37ECCE88-9342-4C4E-8B43-BE4604792CDA}" srcOrd="6" destOrd="0" presId="urn:microsoft.com/office/officeart/2018/2/layout/IconVerticalSolidList"/>
    <dgm:cxn modelId="{47737AA7-5CD0-48E2-B18E-4D69B3614B12}" type="presParOf" srcId="{37ECCE88-9342-4C4E-8B43-BE4604792CDA}" destId="{41B19FFD-D5B0-4E8D-BFEE-AE591266B7D4}" srcOrd="0" destOrd="0" presId="urn:microsoft.com/office/officeart/2018/2/layout/IconVerticalSolidList"/>
    <dgm:cxn modelId="{09351A20-AE2C-4DCD-AA49-4FB870DF6A5B}" type="presParOf" srcId="{37ECCE88-9342-4C4E-8B43-BE4604792CDA}" destId="{5D720109-4AE5-45B0-B252-F1F69CE073D5}" srcOrd="1" destOrd="0" presId="urn:microsoft.com/office/officeart/2018/2/layout/IconVerticalSolidList"/>
    <dgm:cxn modelId="{7B502521-C8B7-4BAC-8315-FBB782B9902D}" type="presParOf" srcId="{37ECCE88-9342-4C4E-8B43-BE4604792CDA}" destId="{01AB9CD0-D288-4618-BAE5-45BCE8B08ACE}" srcOrd="2" destOrd="0" presId="urn:microsoft.com/office/officeart/2018/2/layout/IconVerticalSolidList"/>
    <dgm:cxn modelId="{A3FBD0FF-2901-43FF-BC7F-5039B19534E6}" type="presParOf" srcId="{37ECCE88-9342-4C4E-8B43-BE4604792CDA}" destId="{0C2E5C6F-8800-45BB-9E85-345E37DEA5D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9A2CC-59F7-405A-87A6-9BB2E328376B}">
      <dsp:nvSpPr>
        <dsp:cNvPr id="0" name=""/>
        <dsp:cNvSpPr/>
      </dsp:nvSpPr>
      <dsp:spPr>
        <a:xfrm>
          <a:off x="1887600" y="71369"/>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6998CA-7FD9-4D14-BBA7-FA8FB9271180}">
      <dsp:nvSpPr>
        <dsp:cNvPr id="0" name=""/>
        <dsp:cNvSpPr/>
      </dsp:nvSpPr>
      <dsp:spPr>
        <a:xfrm>
          <a:off x="483600" y="172652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b="1" kern="1200"/>
            <a:t>Clinical Goals:</a:t>
          </a:r>
          <a:endParaRPr lang="en-US" sz="3600" kern="1200"/>
        </a:p>
      </dsp:txBody>
      <dsp:txXfrm>
        <a:off x="483600" y="1726522"/>
        <a:ext cx="4320000" cy="648000"/>
      </dsp:txXfrm>
    </dsp:sp>
    <dsp:sp modelId="{B5F5A470-D8DC-4374-BC51-5D4A660DBA8F}">
      <dsp:nvSpPr>
        <dsp:cNvPr id="0" name=""/>
        <dsp:cNvSpPr/>
      </dsp:nvSpPr>
      <dsp:spPr>
        <a:xfrm>
          <a:off x="483600" y="2441104"/>
          <a:ext cx="4320000" cy="959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Enhance early detection capabilities to identify high-risk patients before critical events occur, enabling personalized preventative treatment plans.</a:t>
          </a:r>
        </a:p>
      </dsp:txBody>
      <dsp:txXfrm>
        <a:off x="483600" y="2441104"/>
        <a:ext cx="4320000" cy="959388"/>
      </dsp:txXfrm>
    </dsp:sp>
    <dsp:sp modelId="{F4963626-AF3C-40CE-B168-4B38359E8222}">
      <dsp:nvSpPr>
        <dsp:cNvPr id="0" name=""/>
        <dsp:cNvSpPr/>
      </dsp:nvSpPr>
      <dsp:spPr>
        <a:xfrm>
          <a:off x="6963600" y="71369"/>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B6118-04E7-4E39-AA1B-B9EBEDB20148}">
      <dsp:nvSpPr>
        <dsp:cNvPr id="0" name=""/>
        <dsp:cNvSpPr/>
      </dsp:nvSpPr>
      <dsp:spPr>
        <a:xfrm>
          <a:off x="5559600" y="172652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90000"/>
            </a:lnSpc>
            <a:spcBef>
              <a:spcPct val="0"/>
            </a:spcBef>
            <a:spcAft>
              <a:spcPct val="35000"/>
            </a:spcAft>
            <a:buNone/>
            <a:defRPr b="1"/>
          </a:pPr>
          <a:r>
            <a:rPr lang="en-US" sz="3600" b="1" kern="1200"/>
            <a:t>Business Goals: </a:t>
          </a:r>
          <a:endParaRPr lang="en-US" sz="3600" kern="1200"/>
        </a:p>
      </dsp:txBody>
      <dsp:txXfrm>
        <a:off x="5559600" y="1726522"/>
        <a:ext cx="4320000" cy="648000"/>
      </dsp:txXfrm>
    </dsp:sp>
    <dsp:sp modelId="{CFC125A2-3DFC-4071-B01D-5D8D18407287}">
      <dsp:nvSpPr>
        <dsp:cNvPr id="0" name=""/>
        <dsp:cNvSpPr/>
      </dsp:nvSpPr>
      <dsp:spPr>
        <a:xfrm>
          <a:off x="5559600" y="2441104"/>
          <a:ext cx="4320000" cy="959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Reduce long-term healthcare costs associated with late-stage cardiovascular interventions and optimize hospital resource allocation through automated risk stratification.</a:t>
          </a:r>
        </a:p>
      </dsp:txBody>
      <dsp:txXfrm>
        <a:off x="5559600" y="2441104"/>
        <a:ext cx="4320000" cy="9593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175868-2494-7644-8FE9-B468A59728B6}">
      <dsp:nvSpPr>
        <dsp:cNvPr id="0" name=""/>
        <dsp:cNvSpPr/>
      </dsp:nvSpPr>
      <dsp:spPr>
        <a:xfrm>
          <a:off x="0" y="499218"/>
          <a:ext cx="6400401" cy="907199"/>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6742" tIns="333248" rIns="496742" bIns="113792" numCol="1" spcCol="1270" anchor="t" anchorCtr="0">
          <a:noAutofit/>
        </a:bodyPr>
        <a:lstStyle/>
        <a:p>
          <a:pPr marL="171450" lvl="1" indent="-171450" algn="l" defTabSz="711200">
            <a:lnSpc>
              <a:spcPct val="90000"/>
            </a:lnSpc>
            <a:spcBef>
              <a:spcPct val="0"/>
            </a:spcBef>
            <a:spcAft>
              <a:spcPct val="15000"/>
            </a:spcAft>
            <a:buChar char="•"/>
          </a:pPr>
          <a:r>
            <a:rPr lang="en-US" sz="1600" b="0" i="0" kern="1200" baseline="0"/>
            <a:t>Users can input or select values for all model features (e.g., Age, Sex, Cholesterol, Resting BP).</a:t>
          </a:r>
          <a:endParaRPr lang="en-US" sz="1600" kern="1200"/>
        </a:p>
      </dsp:txBody>
      <dsp:txXfrm>
        <a:off x="0" y="499218"/>
        <a:ext cx="6400401" cy="907199"/>
      </dsp:txXfrm>
    </dsp:sp>
    <dsp:sp modelId="{58C22C6D-0FBD-6C47-AF0F-D93673599AB3}">
      <dsp:nvSpPr>
        <dsp:cNvPr id="0" name=""/>
        <dsp:cNvSpPr/>
      </dsp:nvSpPr>
      <dsp:spPr>
        <a:xfrm>
          <a:off x="320020" y="263058"/>
          <a:ext cx="4480280" cy="4723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9344" tIns="0" rIns="169344" bIns="0" numCol="1" spcCol="1270" anchor="ctr" anchorCtr="0">
          <a:noAutofit/>
        </a:bodyPr>
        <a:lstStyle/>
        <a:p>
          <a:pPr marL="0" lvl="0" indent="0" algn="l" defTabSz="711200">
            <a:lnSpc>
              <a:spcPct val="90000"/>
            </a:lnSpc>
            <a:spcBef>
              <a:spcPct val="0"/>
            </a:spcBef>
            <a:spcAft>
              <a:spcPct val="35000"/>
            </a:spcAft>
            <a:buNone/>
          </a:pPr>
          <a:r>
            <a:rPr lang="en-US" sz="1600" b="0" i="0" kern="1200" baseline="0"/>
            <a:t>Patient Inputs (Left Side):	</a:t>
          </a:r>
          <a:endParaRPr lang="en-US" sz="1600" kern="1200"/>
        </a:p>
      </dsp:txBody>
      <dsp:txXfrm>
        <a:off x="343077" y="286115"/>
        <a:ext cx="4434166" cy="426206"/>
      </dsp:txXfrm>
    </dsp:sp>
    <dsp:sp modelId="{407120E0-96A1-644C-B08C-DFC4BB32520C}">
      <dsp:nvSpPr>
        <dsp:cNvPr id="0" name=""/>
        <dsp:cNvSpPr/>
      </dsp:nvSpPr>
      <dsp:spPr>
        <a:xfrm>
          <a:off x="0" y="1728978"/>
          <a:ext cx="6400401" cy="1159199"/>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6742" tIns="333248" rIns="496742" bIns="113792" numCol="1" spcCol="1270" anchor="t" anchorCtr="0">
          <a:noAutofit/>
        </a:bodyPr>
        <a:lstStyle/>
        <a:p>
          <a:pPr marL="171450" lvl="1" indent="-171450" algn="l" defTabSz="711200">
            <a:lnSpc>
              <a:spcPct val="90000"/>
            </a:lnSpc>
            <a:spcBef>
              <a:spcPct val="0"/>
            </a:spcBef>
            <a:spcAft>
              <a:spcPct val="15000"/>
            </a:spcAft>
            <a:buChar char="•"/>
          </a:pPr>
          <a:r>
            <a:rPr lang="en-US" sz="1600" b="0" i="0" kern="1200" baseline="0"/>
            <a:t>A slider allows the user to adjust the classification threshold</a:t>
          </a:r>
          <a:endParaRPr lang="en-US" sz="1600" kern="1200" dirty="0"/>
        </a:p>
        <a:p>
          <a:pPr marL="171450" lvl="1" indent="-171450" algn="l" defTabSz="711200">
            <a:lnSpc>
              <a:spcPct val="90000"/>
            </a:lnSpc>
            <a:spcBef>
              <a:spcPct val="0"/>
            </a:spcBef>
            <a:spcAft>
              <a:spcPct val="15000"/>
            </a:spcAft>
            <a:buChar char="•"/>
          </a:pPr>
          <a:r>
            <a:rPr lang="en-US" sz="1600" b="0" i="0" kern="1200" baseline="0"/>
            <a:t>A disease is indicated if the resulting probability exceeds this set threshold.</a:t>
          </a:r>
          <a:endParaRPr lang="en-US" sz="1600" kern="1200" dirty="0"/>
        </a:p>
      </dsp:txBody>
      <dsp:txXfrm>
        <a:off x="0" y="1728978"/>
        <a:ext cx="6400401" cy="1159199"/>
      </dsp:txXfrm>
    </dsp:sp>
    <dsp:sp modelId="{BB02ACB2-8F75-3F4C-B807-A9F9AC51C684}">
      <dsp:nvSpPr>
        <dsp:cNvPr id="0" name=""/>
        <dsp:cNvSpPr/>
      </dsp:nvSpPr>
      <dsp:spPr>
        <a:xfrm>
          <a:off x="320020" y="1492818"/>
          <a:ext cx="4480280" cy="4723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9344" tIns="0" rIns="169344" bIns="0" numCol="1" spcCol="1270" anchor="ctr" anchorCtr="0">
          <a:noAutofit/>
        </a:bodyPr>
        <a:lstStyle/>
        <a:p>
          <a:pPr marL="0" lvl="0" indent="0" algn="l" defTabSz="711200">
            <a:lnSpc>
              <a:spcPct val="90000"/>
            </a:lnSpc>
            <a:spcBef>
              <a:spcPct val="0"/>
            </a:spcBef>
            <a:spcAft>
              <a:spcPct val="35000"/>
            </a:spcAft>
            <a:buNone/>
          </a:pPr>
          <a:r>
            <a:rPr lang="en-US" sz="1600" b="0" i="0" kern="1200" baseline="0"/>
            <a:t>Decision Threshold (Left Side):</a:t>
          </a:r>
          <a:endParaRPr lang="en-US" sz="1600" kern="1200"/>
        </a:p>
      </dsp:txBody>
      <dsp:txXfrm>
        <a:off x="343077" y="1515875"/>
        <a:ext cx="4434166" cy="426206"/>
      </dsp:txXfrm>
    </dsp:sp>
    <dsp:sp modelId="{8C15A3C6-FC8A-634B-992F-944C31E8237E}">
      <dsp:nvSpPr>
        <dsp:cNvPr id="0" name=""/>
        <dsp:cNvSpPr/>
      </dsp:nvSpPr>
      <dsp:spPr>
        <a:xfrm>
          <a:off x="0" y="3210738"/>
          <a:ext cx="6400401" cy="1915199"/>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6742" tIns="333248" rIns="496742" bIns="113792" numCol="1" spcCol="1270" anchor="t" anchorCtr="0">
          <a:noAutofit/>
        </a:bodyPr>
        <a:lstStyle/>
        <a:p>
          <a:pPr marL="171450" lvl="1" indent="-171450" algn="l" defTabSz="711200">
            <a:lnSpc>
              <a:spcPct val="90000"/>
            </a:lnSpc>
            <a:spcBef>
              <a:spcPct val="0"/>
            </a:spcBef>
            <a:spcAft>
              <a:spcPct val="15000"/>
            </a:spcAft>
            <a:buChar char="•"/>
          </a:pPr>
          <a:r>
            <a:rPr lang="en-US" sz="1600" b="0" i="0" kern="1200" baseline="0"/>
            <a:t>After pressing "Predict," the result is displayed.</a:t>
          </a:r>
          <a:endParaRPr lang="en-US" sz="1600" kern="1200"/>
        </a:p>
        <a:p>
          <a:pPr marL="171450" lvl="1" indent="-171450" algn="l" defTabSz="711200">
            <a:lnSpc>
              <a:spcPct val="90000"/>
            </a:lnSpc>
            <a:spcBef>
              <a:spcPct val="0"/>
            </a:spcBef>
            <a:spcAft>
              <a:spcPct val="15000"/>
            </a:spcAft>
            <a:buChar char="•"/>
          </a:pPr>
          <a:r>
            <a:rPr lang="en-US" sz="1600" b="0" i="0" kern="1200" baseline="0"/>
            <a:t>Shows the final "Low Risk" or "High Risk" classification.</a:t>
          </a:r>
          <a:endParaRPr lang="en-US" sz="1600" kern="1200"/>
        </a:p>
        <a:p>
          <a:pPr marL="171450" lvl="1" indent="-171450" algn="l" defTabSz="711200">
            <a:lnSpc>
              <a:spcPct val="90000"/>
            </a:lnSpc>
            <a:spcBef>
              <a:spcPct val="0"/>
            </a:spcBef>
            <a:spcAft>
              <a:spcPct val="15000"/>
            </a:spcAft>
            <a:buChar char="•"/>
          </a:pPr>
          <a:r>
            <a:rPr lang="en-US" sz="1600" b="0" i="0" kern="1200" baseline="0"/>
            <a:t>Displays the exact "Predicted Probability of Heart Disease" (e.g., 0.773).</a:t>
          </a:r>
          <a:endParaRPr lang="en-US" sz="1600" kern="1200" dirty="0"/>
        </a:p>
        <a:p>
          <a:pPr marL="171450" lvl="1" indent="-171450" algn="l" defTabSz="711200">
            <a:lnSpc>
              <a:spcPct val="90000"/>
            </a:lnSpc>
            <a:spcBef>
              <a:spcPct val="0"/>
            </a:spcBef>
            <a:spcAft>
              <a:spcPct val="15000"/>
            </a:spcAft>
            <a:buChar char="•"/>
          </a:pPr>
          <a:r>
            <a:rPr lang="en-US" sz="1600" b="0" i="0" kern="1200" baseline="0"/>
            <a:t>Also shows the specific feature values that were sent to the model.</a:t>
          </a:r>
          <a:endParaRPr lang="en-US" sz="1600" kern="1200" dirty="0"/>
        </a:p>
      </dsp:txBody>
      <dsp:txXfrm>
        <a:off x="0" y="3210738"/>
        <a:ext cx="6400401" cy="1915199"/>
      </dsp:txXfrm>
    </dsp:sp>
    <dsp:sp modelId="{23449B3E-806C-884F-96DE-B753C5B862AC}">
      <dsp:nvSpPr>
        <dsp:cNvPr id="0" name=""/>
        <dsp:cNvSpPr/>
      </dsp:nvSpPr>
      <dsp:spPr>
        <a:xfrm>
          <a:off x="320020" y="2974578"/>
          <a:ext cx="4480280" cy="47232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9344" tIns="0" rIns="169344" bIns="0" numCol="1" spcCol="1270" anchor="ctr" anchorCtr="0">
          <a:noAutofit/>
        </a:bodyPr>
        <a:lstStyle/>
        <a:p>
          <a:pPr marL="0" lvl="0" indent="0" algn="l" defTabSz="711200">
            <a:lnSpc>
              <a:spcPct val="90000"/>
            </a:lnSpc>
            <a:spcBef>
              <a:spcPct val="0"/>
            </a:spcBef>
            <a:spcAft>
              <a:spcPct val="35000"/>
            </a:spcAft>
            <a:buNone/>
          </a:pPr>
          <a:r>
            <a:rPr lang="en-US" sz="1600" b="0" i="0" kern="1200" baseline="0"/>
            <a:t>Prediction Results (Center):</a:t>
          </a:r>
          <a:endParaRPr lang="en-US" sz="1600" kern="1200"/>
        </a:p>
      </dsp:txBody>
      <dsp:txXfrm>
        <a:off x="343077" y="2997635"/>
        <a:ext cx="4434166" cy="4262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700E51-7706-4684-A197-8AFED593E46B}">
      <dsp:nvSpPr>
        <dsp:cNvPr id="0" name=""/>
        <dsp:cNvSpPr/>
      </dsp:nvSpPr>
      <dsp:spPr>
        <a:xfrm>
          <a:off x="0" y="2279"/>
          <a:ext cx="6400798" cy="115507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20EB09-3ECF-4BEF-99A7-1B98FEB242C4}">
      <dsp:nvSpPr>
        <dsp:cNvPr id="0" name=""/>
        <dsp:cNvSpPr/>
      </dsp:nvSpPr>
      <dsp:spPr>
        <a:xfrm>
          <a:off x="349410" y="262170"/>
          <a:ext cx="635291" cy="6352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B10D68-D002-43B7-B2FF-9978A0112E1E}">
      <dsp:nvSpPr>
        <dsp:cNvPr id="0" name=""/>
        <dsp:cNvSpPr/>
      </dsp:nvSpPr>
      <dsp:spPr>
        <a:xfrm>
          <a:off x="1334111" y="2279"/>
          <a:ext cx="5066687" cy="1155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245" tIns="122245" rIns="122245" bIns="122245" numCol="1" spcCol="1270" anchor="ctr" anchorCtr="0">
          <a:noAutofit/>
        </a:bodyPr>
        <a:lstStyle/>
        <a:p>
          <a:pPr marL="0" lvl="0" indent="0" algn="l" defTabSz="933450">
            <a:lnSpc>
              <a:spcPct val="90000"/>
            </a:lnSpc>
            <a:spcBef>
              <a:spcPct val="0"/>
            </a:spcBef>
            <a:spcAft>
              <a:spcPct val="35000"/>
            </a:spcAft>
            <a:buNone/>
          </a:pPr>
          <a:r>
            <a:rPr lang="en-US" sz="2100" kern="1200" dirty="0"/>
            <a:t>Moving beyond simple prediction, this technology lays the groundwork for the following systems. </a:t>
          </a:r>
        </a:p>
      </dsp:txBody>
      <dsp:txXfrm>
        <a:off x="1334111" y="2279"/>
        <a:ext cx="5066687" cy="1155074"/>
      </dsp:txXfrm>
    </dsp:sp>
    <dsp:sp modelId="{ADA9E6EB-E046-4083-95E0-2853DEE2A203}">
      <dsp:nvSpPr>
        <dsp:cNvPr id="0" name=""/>
        <dsp:cNvSpPr/>
      </dsp:nvSpPr>
      <dsp:spPr>
        <a:xfrm>
          <a:off x="0" y="1446122"/>
          <a:ext cx="6400798" cy="115507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86B515-67CD-4DEA-971F-756BEB90E5BF}">
      <dsp:nvSpPr>
        <dsp:cNvPr id="0" name=""/>
        <dsp:cNvSpPr/>
      </dsp:nvSpPr>
      <dsp:spPr>
        <a:xfrm>
          <a:off x="349410" y="1706014"/>
          <a:ext cx="635291" cy="6352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071747D-A18F-4838-9177-C791F6419D06}">
      <dsp:nvSpPr>
        <dsp:cNvPr id="0" name=""/>
        <dsp:cNvSpPr/>
      </dsp:nvSpPr>
      <dsp:spPr>
        <a:xfrm>
          <a:off x="1334111" y="1446122"/>
          <a:ext cx="5066687" cy="1155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245" tIns="122245" rIns="122245" bIns="122245" numCol="1" spcCol="1270" anchor="ctr" anchorCtr="0">
          <a:noAutofit/>
        </a:bodyPr>
        <a:lstStyle/>
        <a:p>
          <a:pPr marL="0" lvl="0" indent="0" algn="l" defTabSz="933450">
            <a:lnSpc>
              <a:spcPct val="90000"/>
            </a:lnSpc>
            <a:spcBef>
              <a:spcPct val="0"/>
            </a:spcBef>
            <a:spcAft>
              <a:spcPct val="35000"/>
            </a:spcAft>
            <a:buNone/>
          </a:pPr>
          <a:r>
            <a:rPr lang="en-US" sz="2100" b="1" kern="1200"/>
            <a:t>Proactive Medicine:</a:t>
          </a:r>
          <a:r>
            <a:rPr lang="en-US" sz="2100" kern="1200"/>
            <a:t> Shifting from reactive treatment to preventative care.</a:t>
          </a:r>
        </a:p>
      </dsp:txBody>
      <dsp:txXfrm>
        <a:off x="1334111" y="1446122"/>
        <a:ext cx="5066687" cy="1155074"/>
      </dsp:txXfrm>
    </dsp:sp>
    <dsp:sp modelId="{2163A4FA-729E-4322-9B6F-0F5B7C3AB4CC}">
      <dsp:nvSpPr>
        <dsp:cNvPr id="0" name=""/>
        <dsp:cNvSpPr/>
      </dsp:nvSpPr>
      <dsp:spPr>
        <a:xfrm>
          <a:off x="0" y="2889965"/>
          <a:ext cx="6400798" cy="115507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9ED23E-559C-402B-944B-0652469A674A}">
      <dsp:nvSpPr>
        <dsp:cNvPr id="0" name=""/>
        <dsp:cNvSpPr/>
      </dsp:nvSpPr>
      <dsp:spPr>
        <a:xfrm>
          <a:off x="349410" y="3149857"/>
          <a:ext cx="635291" cy="6352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C4D13C-6D1A-4D74-9A4C-05BF62B9E25C}">
      <dsp:nvSpPr>
        <dsp:cNvPr id="0" name=""/>
        <dsp:cNvSpPr/>
      </dsp:nvSpPr>
      <dsp:spPr>
        <a:xfrm>
          <a:off x="1334111" y="2889965"/>
          <a:ext cx="5066687" cy="1155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245" tIns="122245" rIns="122245" bIns="122245" numCol="1" spcCol="1270" anchor="ctr" anchorCtr="0">
          <a:noAutofit/>
        </a:bodyPr>
        <a:lstStyle/>
        <a:p>
          <a:pPr marL="0" lvl="0" indent="0" algn="l" defTabSz="933450">
            <a:lnSpc>
              <a:spcPct val="90000"/>
            </a:lnSpc>
            <a:spcBef>
              <a:spcPct val="0"/>
            </a:spcBef>
            <a:spcAft>
              <a:spcPct val="35000"/>
            </a:spcAft>
            <a:buNone/>
          </a:pPr>
          <a:r>
            <a:rPr lang="en-US" sz="2100" b="1" kern="1200"/>
            <a:t>Remote Monitoring:</a:t>
          </a:r>
          <a:r>
            <a:rPr lang="en-US" sz="2100" kern="1200"/>
            <a:t> Integrating with wearables to monitor high-risk patients 24/7.</a:t>
          </a:r>
        </a:p>
      </dsp:txBody>
      <dsp:txXfrm>
        <a:off x="1334111" y="2889965"/>
        <a:ext cx="5066687" cy="1155074"/>
      </dsp:txXfrm>
    </dsp:sp>
    <dsp:sp modelId="{41B19FFD-D5B0-4E8D-BFEE-AE591266B7D4}">
      <dsp:nvSpPr>
        <dsp:cNvPr id="0" name=""/>
        <dsp:cNvSpPr/>
      </dsp:nvSpPr>
      <dsp:spPr>
        <a:xfrm>
          <a:off x="0" y="4333809"/>
          <a:ext cx="6400798" cy="115507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720109-4AE5-45B0-B252-F1F69CE073D5}">
      <dsp:nvSpPr>
        <dsp:cNvPr id="0" name=""/>
        <dsp:cNvSpPr/>
      </dsp:nvSpPr>
      <dsp:spPr>
        <a:xfrm>
          <a:off x="349410" y="4593701"/>
          <a:ext cx="635291" cy="63529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2E5C6F-8800-45BB-9E85-345E37DEA5DD}">
      <dsp:nvSpPr>
        <dsp:cNvPr id="0" name=""/>
        <dsp:cNvSpPr/>
      </dsp:nvSpPr>
      <dsp:spPr>
        <a:xfrm>
          <a:off x="1334111" y="4333809"/>
          <a:ext cx="5066687" cy="11550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245" tIns="122245" rIns="122245" bIns="122245" numCol="1" spcCol="1270" anchor="ctr" anchorCtr="0">
          <a:noAutofit/>
        </a:bodyPr>
        <a:lstStyle/>
        <a:p>
          <a:pPr marL="0" lvl="0" indent="0" algn="l" defTabSz="933450">
            <a:lnSpc>
              <a:spcPct val="90000"/>
            </a:lnSpc>
            <a:spcBef>
              <a:spcPct val="0"/>
            </a:spcBef>
            <a:spcAft>
              <a:spcPct val="35000"/>
            </a:spcAft>
            <a:buNone/>
          </a:pPr>
          <a:r>
            <a:rPr lang="en-US" sz="2100" b="1" kern="1200"/>
            <a:t>Resource Optimization:</a:t>
          </a:r>
          <a:r>
            <a:rPr lang="en-US" sz="2100" kern="1200"/>
            <a:t> AI triage systems to prioritize critical cases in emergency rooms.</a:t>
          </a:r>
        </a:p>
      </dsp:txBody>
      <dsp:txXfrm>
        <a:off x="1334111" y="4333809"/>
        <a:ext cx="5066687" cy="1155074"/>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277FB6-31CD-2544-960F-ED9A615DC955}" type="datetimeFigureOut">
              <a:rPr lang="en-US" smtClean="0"/>
              <a:t>12/2/25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ABD97B-17EF-5D40-99EF-29C9E39EB79A}" type="slidenum">
              <a:rPr lang="en-US" smtClean="0"/>
              <a:t>‹#›</a:t>
            </a:fld>
            <a:endParaRPr lang="en-US"/>
          </a:p>
        </p:txBody>
      </p:sp>
    </p:spTree>
    <p:extLst>
      <p:ext uri="{BB962C8B-B14F-4D97-AF65-F5344CB8AC3E}">
        <p14:creationId xmlns:p14="http://schemas.microsoft.com/office/powerpoint/2010/main" val="3935288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Today, I’m excited to walk you through our project on </a:t>
            </a:r>
            <a:r>
              <a:rPr lang="en-US" b="1" dirty="0"/>
              <a:t>Heart Disease Risk Prediction using XGBoost</a:t>
            </a:r>
            <a:r>
              <a:rPr lang="en-US" dirty="0"/>
              <a:t>.</a:t>
            </a:r>
          </a:p>
          <a:p>
            <a:r>
              <a:rPr lang="en-US" dirty="0"/>
              <a:t>Cardiovascular disease remains one of the leading causes of mortality globally. Early detection is often the key to survival, but traditional diagnostic methods can be time-consuming and expensive. </a:t>
            </a:r>
          </a:p>
          <a:p>
            <a:r>
              <a:rPr lang="en-US" dirty="0"/>
              <a:t>My goal was to leverage machine learning to help medical professionals make faster, data-driven decisions.</a:t>
            </a:r>
          </a:p>
          <a:p>
            <a:r>
              <a:rPr lang="en-US" dirty="0"/>
              <a:t>In this presentation, I’ll take you through the performance of the XGBoost model, which we chose for its efficiency and accuracy. </a:t>
            </a:r>
          </a:p>
        </p:txBody>
      </p:sp>
      <p:sp>
        <p:nvSpPr>
          <p:cNvPr id="4" name="Slide Number Placeholder 3"/>
          <p:cNvSpPr>
            <a:spLocks noGrp="1"/>
          </p:cNvSpPr>
          <p:nvPr>
            <p:ph type="sldNum" sz="quarter" idx="5"/>
          </p:nvPr>
        </p:nvSpPr>
        <p:spPr/>
        <p:txBody>
          <a:bodyPr/>
          <a:lstStyle/>
          <a:p>
            <a:fld id="{F5ABD97B-17EF-5D40-99EF-29C9E39EB79A}" type="slidenum">
              <a:rPr lang="en-US" smtClean="0"/>
              <a:t>1</a:t>
            </a:fld>
            <a:endParaRPr lang="en-US"/>
          </a:p>
        </p:txBody>
      </p:sp>
    </p:spTree>
    <p:extLst>
      <p:ext uri="{BB962C8B-B14F-4D97-AF65-F5344CB8AC3E}">
        <p14:creationId xmlns:p14="http://schemas.microsoft.com/office/powerpoint/2010/main" val="195072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"Let’s start by looking at the results. I evaluated our model using two primary metrics: </a:t>
            </a:r>
            <a:r>
              <a:rPr lang="en-US" b="1" dirty="0"/>
              <a:t>ROC AUC</a:t>
            </a:r>
            <a:r>
              <a:rPr lang="en-US" dirty="0"/>
              <a:t> and </a:t>
            </a:r>
            <a:r>
              <a:rPr lang="en-US" b="1" dirty="0"/>
              <a:t>Overall Accuracy</a:t>
            </a:r>
            <a:r>
              <a:rPr lang="en-US" dirty="0"/>
              <a:t>.</a:t>
            </a:r>
          </a:p>
          <a:p>
            <a:endParaRPr lang="en-US" dirty="0"/>
          </a:p>
          <a:p>
            <a:r>
              <a:rPr lang="en-US" dirty="0"/>
              <a:t>First, looking at the </a:t>
            </a:r>
            <a:r>
              <a:rPr lang="en-US" b="1" dirty="0"/>
              <a:t>Diagnostic Power</a:t>
            </a:r>
            <a:r>
              <a:rPr lang="en-US" dirty="0"/>
              <a:t>, we achieved an ROC AUC score of </a:t>
            </a:r>
            <a:r>
              <a:rPr lang="en-US" b="1" dirty="0"/>
              <a:t>89%</a:t>
            </a:r>
            <a:r>
              <a:rPr lang="en-US" dirty="0"/>
              <a:t>. </a:t>
            </a:r>
          </a:p>
          <a:p>
            <a:r>
              <a:rPr lang="en-US" dirty="0"/>
              <a:t>In the medical field, this is a critical metric because it doesn’t just tell us if the model is right or wrong; </a:t>
            </a:r>
          </a:p>
          <a:p>
            <a:r>
              <a:rPr lang="en-US" dirty="0"/>
              <a:t>It tells us how good the model is at distinguishing between a sick patient and a healthy one. </a:t>
            </a:r>
          </a:p>
          <a:p>
            <a:r>
              <a:rPr lang="en-US" dirty="0"/>
              <a:t>An 89% score indicates excellent discrimination, meaning if you gave the model a random positive patient and a random negative patient, </a:t>
            </a:r>
          </a:p>
          <a:p>
            <a:r>
              <a:rPr lang="en-US" dirty="0"/>
              <a:t>It is highly likely to rank the positive patient higher. </a:t>
            </a:r>
          </a:p>
          <a:p>
            <a:endParaRPr lang="en-US" dirty="0"/>
          </a:p>
          <a:p>
            <a:r>
              <a:rPr lang="en-US" dirty="0"/>
              <a:t>Secondly, our </a:t>
            </a:r>
            <a:r>
              <a:rPr lang="en-US" b="1" dirty="0"/>
              <a:t>Overall Accuracy is 80%</a:t>
            </a:r>
            <a:r>
              <a:rPr lang="en-US" dirty="0"/>
              <a:t>. This means that for every 10 patients that walk through the door, </a:t>
            </a:r>
          </a:p>
          <a:p>
            <a:r>
              <a:rPr lang="en-US" dirty="0"/>
              <a:t>the model correctly identifies the health outcome for 8 of them. While no model is perfect, </a:t>
            </a:r>
          </a:p>
          <a:p>
            <a:r>
              <a:rPr lang="en-US" dirty="0"/>
              <a:t>this provides a very strong baseline for a diagnostic support tool.</a:t>
            </a:r>
          </a:p>
          <a:p>
            <a:endParaRPr lang="en-US" dirty="0"/>
          </a:p>
        </p:txBody>
      </p:sp>
      <p:sp>
        <p:nvSpPr>
          <p:cNvPr id="4" name="Slide Number Placeholder 3"/>
          <p:cNvSpPr>
            <a:spLocks noGrp="1"/>
          </p:cNvSpPr>
          <p:nvPr>
            <p:ph type="sldNum" sz="quarter" idx="5"/>
          </p:nvPr>
        </p:nvSpPr>
        <p:spPr/>
        <p:txBody>
          <a:bodyPr/>
          <a:lstStyle/>
          <a:p>
            <a:fld id="{F5ABD97B-17EF-5D40-99EF-29C9E39EB79A}" type="slidenum">
              <a:rPr lang="en-US" smtClean="0"/>
              <a:t>4</a:t>
            </a:fld>
            <a:endParaRPr lang="en-US"/>
          </a:p>
        </p:txBody>
      </p:sp>
    </p:spTree>
    <p:extLst>
      <p:ext uri="{BB962C8B-B14F-4D97-AF65-F5344CB8AC3E}">
        <p14:creationId xmlns:p14="http://schemas.microsoft.com/office/powerpoint/2010/main" val="1270276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 understand where that 80% accuracy comes from, we have to look at the </a:t>
            </a:r>
            <a:r>
              <a:rPr lang="en-US" b="1" dirty="0"/>
              <a:t>Confusion Matrix</a:t>
            </a:r>
            <a:r>
              <a:rPr lang="en-US" dirty="0"/>
              <a:t>. This breaks down our predictions into four categories.</a:t>
            </a:r>
          </a:p>
          <a:p>
            <a:r>
              <a:rPr lang="en-US" b="1" dirty="0"/>
              <a:t>True Negatives (Top-Left):</a:t>
            </a:r>
            <a:r>
              <a:rPr lang="en-US" dirty="0"/>
              <a:t> We correctly identified 29 healthy patients. This is great; we aren't raising false alarms for them.</a:t>
            </a:r>
          </a:p>
          <a:p>
            <a:r>
              <a:rPr lang="en-US" b="1" dirty="0"/>
              <a:t>True Positives (Bottom-Right):</a:t>
            </a:r>
            <a:r>
              <a:rPr lang="en-US" dirty="0"/>
              <a:t> We correctly caught the disease in 19 patients. These are the people who can now get treatment because of the model.</a:t>
            </a:r>
          </a:p>
          <a:p>
            <a:endParaRPr lang="en-US" dirty="0"/>
          </a:p>
          <a:p>
            <a:r>
              <a:rPr lang="en-US" dirty="0"/>
              <a:t>However, in medicine, we care deeply about the errors.</a:t>
            </a:r>
          </a:p>
          <a:p>
            <a:r>
              <a:rPr lang="en-US" b="1" dirty="0"/>
              <a:t>False Positives (Top-Right):</a:t>
            </a:r>
            <a:r>
              <a:rPr lang="en-US" dirty="0"/>
              <a:t> We have 3 cases where we predicted disease. While stressful for the patient, this is usually acceptable as a 'better safe than sorry' approach.</a:t>
            </a:r>
          </a:p>
          <a:p>
            <a:r>
              <a:rPr lang="en-US" b="1" dirty="0"/>
              <a:t>False Negatives (Bottom-Left):</a:t>
            </a:r>
            <a:r>
              <a:rPr lang="en-US" dirty="0"/>
              <a:t> This is the most critical quadrant. We missed 9 cases. These are patients who have heart disease but were classified as healthy. Moving forward, our primary goal in refining this model would be to lower this number, perhaps by adjusting our decision threshold to be more sensitive, ensuring we catch as many positive cases as possible."</a:t>
            </a:r>
          </a:p>
          <a:p>
            <a:endParaRPr lang="en-US" dirty="0"/>
          </a:p>
          <a:p>
            <a:endParaRPr lang="en-US" dirty="0"/>
          </a:p>
        </p:txBody>
      </p:sp>
      <p:sp>
        <p:nvSpPr>
          <p:cNvPr id="4" name="Slide Number Placeholder 3"/>
          <p:cNvSpPr>
            <a:spLocks noGrp="1"/>
          </p:cNvSpPr>
          <p:nvPr>
            <p:ph type="sldNum" sz="quarter" idx="5"/>
          </p:nvPr>
        </p:nvSpPr>
        <p:spPr/>
        <p:txBody>
          <a:bodyPr/>
          <a:lstStyle/>
          <a:p>
            <a:fld id="{F5ABD97B-17EF-5D40-99EF-29C9E39EB79A}" type="slidenum">
              <a:rPr lang="en-US" smtClean="0"/>
              <a:t>5</a:t>
            </a:fld>
            <a:endParaRPr lang="en-US"/>
          </a:p>
        </p:txBody>
      </p:sp>
    </p:spTree>
    <p:extLst>
      <p:ext uri="{BB962C8B-B14F-4D97-AF65-F5344CB8AC3E}">
        <p14:creationId xmlns:p14="http://schemas.microsoft.com/office/powerpoint/2010/main" val="3769027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One of the reasons we chose XGBoost is that it allows us to see </a:t>
            </a:r>
            <a:r>
              <a:rPr lang="en-US" i="1" dirty="0"/>
              <a:t>why</a:t>
            </a:r>
            <a:r>
              <a:rPr lang="en-US" dirty="0"/>
              <a:t> decisions are being made. We analyzed feature importance to ensure the model wasn't learning from noise, but rather from medically relevant data.</a:t>
            </a:r>
          </a:p>
          <a:p>
            <a:endParaRPr lang="en-US" dirty="0"/>
          </a:p>
          <a:p>
            <a:r>
              <a:rPr lang="en-US" dirty="0"/>
              <a:t>Here are the top 5 factors driving our predictions:</a:t>
            </a:r>
          </a:p>
          <a:p>
            <a:endParaRPr lang="en-US" dirty="0"/>
          </a:p>
          <a:p>
            <a:r>
              <a:rPr lang="en-US" b="1" dirty="0"/>
              <a:t>Cholesterol:</a:t>
            </a:r>
            <a:r>
              <a:rPr lang="en-US" dirty="0"/>
              <a:t> As expected, serum cholesterol levels are a massive indicator of heart health.</a:t>
            </a:r>
          </a:p>
          <a:p>
            <a:endParaRPr lang="en-US" dirty="0"/>
          </a:p>
          <a:p>
            <a:r>
              <a:rPr lang="en-US" b="1" dirty="0"/>
              <a:t>Age:</a:t>
            </a:r>
            <a:r>
              <a:rPr lang="en-US" dirty="0"/>
              <a:t> Risk naturally increases as we get older, and the model picked up on this heavily.</a:t>
            </a:r>
          </a:p>
          <a:p>
            <a:endParaRPr lang="en-US" dirty="0"/>
          </a:p>
          <a:p>
            <a:r>
              <a:rPr lang="en-US" b="1" dirty="0"/>
              <a:t>Old Peak:</a:t>
            </a:r>
            <a:r>
              <a:rPr lang="en-US" dirty="0"/>
              <a:t> This refers to ST depression induced by exercise. It’s a specific ECG reading that indicates how the heart handles stress. The fact that the model prioritizes this shows it is picking up on nuanced clinical signals.</a:t>
            </a:r>
          </a:p>
          <a:p>
            <a:endParaRPr lang="en-US" dirty="0"/>
          </a:p>
          <a:p>
            <a:r>
              <a:rPr lang="en-US" b="1" dirty="0"/>
              <a:t>Thalch:</a:t>
            </a:r>
            <a:r>
              <a:rPr lang="en-US" dirty="0"/>
              <a:t> This is the maximum heart rate achieved. A lower-than-expected max heart rate during stress can be a warning sign.</a:t>
            </a:r>
          </a:p>
          <a:p>
            <a:endParaRPr lang="en-US" dirty="0"/>
          </a:p>
          <a:p>
            <a:r>
              <a:rPr lang="en-US" b="1" dirty="0"/>
              <a:t>Major Vessels:</a:t>
            </a:r>
            <a:r>
              <a:rPr lang="en-US" dirty="0"/>
              <a:t> The number of major vessels colored by fluoroscopy. Essentially, more blockage visible usually correlates with higher risk.</a:t>
            </a:r>
          </a:p>
          <a:p>
            <a:endParaRPr lang="en-US" dirty="0"/>
          </a:p>
        </p:txBody>
      </p:sp>
      <p:sp>
        <p:nvSpPr>
          <p:cNvPr id="4" name="Slide Number Placeholder 3"/>
          <p:cNvSpPr>
            <a:spLocks noGrp="1"/>
          </p:cNvSpPr>
          <p:nvPr>
            <p:ph type="sldNum" sz="quarter" idx="5"/>
          </p:nvPr>
        </p:nvSpPr>
        <p:spPr/>
        <p:txBody>
          <a:bodyPr/>
          <a:lstStyle/>
          <a:p>
            <a:fld id="{F5ABD97B-17EF-5D40-99EF-29C9E39EB79A}" type="slidenum">
              <a:rPr lang="en-US" smtClean="0"/>
              <a:t>6</a:t>
            </a:fld>
            <a:endParaRPr lang="en-US"/>
          </a:p>
        </p:txBody>
      </p:sp>
    </p:spTree>
    <p:extLst>
      <p:ext uri="{BB962C8B-B14F-4D97-AF65-F5344CB8AC3E}">
        <p14:creationId xmlns:p14="http://schemas.microsoft.com/office/powerpoint/2010/main" val="817829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 model is only useful if people can actually use it. We didn't want this code to just sit in a notebook, so we built an </a:t>
            </a:r>
            <a:r>
              <a:rPr lang="en-US" b="1" dirty="0"/>
              <a:t>Interactive Prediction Tool using Streamlit</a:t>
            </a:r>
            <a:r>
              <a:rPr lang="en-US" dirty="0"/>
              <a:t>.</a:t>
            </a:r>
          </a:p>
          <a:p>
            <a:endParaRPr lang="en-US" dirty="0"/>
          </a:p>
          <a:p>
            <a:r>
              <a:rPr lang="en-US" dirty="0"/>
              <a:t>Streamlit allowed us to rapidly prototype a user-friendly interface. It bridges the gap between the complex XGBoost algorithm and the end-user, </a:t>
            </a:r>
          </a:p>
          <a:p>
            <a:r>
              <a:rPr lang="en-US" dirty="0"/>
              <a:t>whether that be a doctor, a nurse, or even a patient doing a preliminary self-check. It transforms raw data inputs into an immediate risk assessment."</a:t>
            </a:r>
          </a:p>
          <a:p>
            <a:endParaRPr lang="en-US" dirty="0"/>
          </a:p>
        </p:txBody>
      </p:sp>
      <p:sp>
        <p:nvSpPr>
          <p:cNvPr id="4" name="Slide Number Placeholder 3"/>
          <p:cNvSpPr>
            <a:spLocks noGrp="1"/>
          </p:cNvSpPr>
          <p:nvPr>
            <p:ph type="sldNum" sz="quarter" idx="5"/>
          </p:nvPr>
        </p:nvSpPr>
        <p:spPr/>
        <p:txBody>
          <a:bodyPr/>
          <a:lstStyle/>
          <a:p>
            <a:fld id="{F5ABD97B-17EF-5D40-99EF-29C9E39EB79A}" type="slidenum">
              <a:rPr lang="en-US" smtClean="0"/>
              <a:t>7</a:t>
            </a:fld>
            <a:endParaRPr lang="en-US"/>
          </a:p>
        </p:txBody>
      </p:sp>
    </p:spTree>
    <p:extLst>
      <p:ext uri="{BB962C8B-B14F-4D97-AF65-F5344CB8AC3E}">
        <p14:creationId xmlns:p14="http://schemas.microsoft.com/office/powerpoint/2010/main" val="2735379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On the left-hand sidebar, you have all the input parameters corresponding to the features we discussed</a:t>
            </a:r>
          </a:p>
          <a:p>
            <a:r>
              <a:rPr lang="en-US" dirty="0"/>
              <a:t>Age, Sex, Chest Pain Type, Cholesterol levels, and Max Heart Rate. We used sliders and dropdowns to make data entry quick and minimize errors.</a:t>
            </a:r>
          </a:p>
          <a:p>
            <a:endParaRPr lang="en-US" dirty="0"/>
          </a:p>
          <a:p>
            <a:r>
              <a:rPr lang="en-US" dirty="0"/>
              <a:t>Once the medical professional enters the patient's vitals, they simply hit the 'Predict' button. </a:t>
            </a:r>
          </a:p>
          <a:p>
            <a:r>
              <a:rPr lang="en-US" dirty="0"/>
              <a:t>The model runs the inference in real-time on the backend and displays the result instantly in the main window,</a:t>
            </a:r>
          </a:p>
          <a:p>
            <a:r>
              <a:rPr lang="en-US" dirty="0"/>
              <a:t>highlighting whether the patient is at 'High Risk' or 'Low Risk' along with the probability confidence.</a:t>
            </a:r>
          </a:p>
          <a:p>
            <a:endParaRPr lang="en-US" dirty="0"/>
          </a:p>
          <a:p>
            <a:r>
              <a:rPr lang="en-US" dirty="0"/>
              <a:t>This creates a seamless workflow where a doctor can get a second opinion from the AI in a matter of seconds."</a:t>
            </a:r>
          </a:p>
          <a:p>
            <a:endParaRPr lang="en-US" dirty="0"/>
          </a:p>
        </p:txBody>
      </p:sp>
      <p:sp>
        <p:nvSpPr>
          <p:cNvPr id="4" name="Slide Number Placeholder 3"/>
          <p:cNvSpPr>
            <a:spLocks noGrp="1"/>
          </p:cNvSpPr>
          <p:nvPr>
            <p:ph type="sldNum" sz="quarter" idx="5"/>
          </p:nvPr>
        </p:nvSpPr>
        <p:spPr/>
        <p:txBody>
          <a:bodyPr/>
          <a:lstStyle/>
          <a:p>
            <a:fld id="{F5ABD97B-17EF-5D40-99EF-29C9E39EB79A}" type="slidenum">
              <a:rPr lang="en-US" smtClean="0"/>
              <a:t>8</a:t>
            </a:fld>
            <a:endParaRPr lang="en-US"/>
          </a:p>
        </p:txBody>
      </p:sp>
    </p:spTree>
    <p:extLst>
      <p:ext uri="{BB962C8B-B14F-4D97-AF65-F5344CB8AC3E}">
        <p14:creationId xmlns:p14="http://schemas.microsoft.com/office/powerpoint/2010/main" val="1027748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fld id="{32637B58-87C1-446D-BDA9-B06F4BCF7782}" type="datetimeFigureOut">
              <a:rPr lang="en-US" smtClean="0"/>
              <a:t>12/2/25</a:t>
            </a:fld>
            <a:endParaRPr lang="en-US"/>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3439322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fld id="{32637B58-87C1-446D-BDA9-B06F4BCF7782}" type="datetimeFigureOut">
              <a:rPr lang="en-US" smtClean="0"/>
              <a:t>12/2/25</a:t>
            </a:fld>
            <a:endParaRPr lang="en-US"/>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dirty="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t>‹#›</a:t>
            </a:fld>
            <a:endParaRPr lang="en-US"/>
          </a:p>
        </p:txBody>
      </p:sp>
    </p:spTree>
    <p:extLst>
      <p:ext uri="{BB962C8B-B14F-4D97-AF65-F5344CB8AC3E}">
        <p14:creationId xmlns:p14="http://schemas.microsoft.com/office/powerpoint/2010/main" val="1606528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fld id="{32637B58-87C1-446D-BDA9-B06F4BCF7782}" type="datetimeFigureOut">
              <a:rPr lang="en-US" smtClean="0"/>
              <a:t>12/2/25</a:t>
            </a:fld>
            <a:endParaRPr lang="en-US"/>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346733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fld id="{32637B58-87C1-446D-BDA9-B06F4BCF7782}" type="datetimeFigureOut">
              <a:rPr lang="en-US" smtClean="0"/>
              <a:t>12/2/25</a:t>
            </a:fld>
            <a:endParaRPr lang="en-US"/>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486739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fld id="{32637B58-87C1-446D-BDA9-B06F4BCF7782}" type="datetimeFigureOut">
              <a:rPr lang="en-US" smtClean="0"/>
              <a:t>12/2/25</a:t>
            </a:fld>
            <a:endParaRPr lang="en-US"/>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493635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fld id="{32637B58-87C1-446D-BDA9-B06F4BCF7782}" type="datetimeFigureOut">
              <a:rPr lang="en-US" smtClean="0"/>
              <a:t>12/2/25</a:t>
            </a:fld>
            <a:endParaRPr lang="en-US"/>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4117264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fld id="{32637B58-87C1-446D-BDA9-B06F4BCF7782}" type="datetimeFigureOut">
              <a:rPr lang="en-US" smtClean="0"/>
              <a:t>12/2/25</a:t>
            </a:fld>
            <a:endParaRPr lang="en-US"/>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2980379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fld id="{32637B58-87C1-446D-BDA9-B06F4BCF7782}" type="datetimeFigureOut">
              <a:rPr lang="en-US" smtClean="0"/>
              <a:t>12/2/25</a:t>
            </a:fld>
            <a:endParaRPr lang="en-US"/>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035115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fld id="{32637B58-87C1-446D-BDA9-B06F4BCF7782}" type="datetimeFigureOut">
              <a:rPr lang="en-US" smtClean="0"/>
              <a:t>12/2/25</a:t>
            </a:fld>
            <a:endParaRPr lang="en-US"/>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1553931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fld id="{32637B58-87C1-446D-BDA9-B06F4BCF7782}" type="datetimeFigureOut">
              <a:rPr lang="en-US" smtClean="0"/>
              <a:t>12/2/25</a:t>
            </a:fld>
            <a:endParaRPr lang="en-US"/>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4064013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fld id="{32637B58-87C1-446D-BDA9-B06F4BCF7782}" type="datetimeFigureOut">
              <a:rPr lang="en-US" smtClean="0"/>
              <a:t>12/2/25</a:t>
            </a:fld>
            <a:endParaRPr lang="en-US"/>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t>‹#›</a:t>
            </a:fld>
            <a:endParaRPr lang="en-US"/>
          </a:p>
        </p:txBody>
      </p:sp>
    </p:spTree>
    <p:extLst>
      <p:ext uri="{BB962C8B-B14F-4D97-AF65-F5344CB8AC3E}">
        <p14:creationId xmlns:p14="http://schemas.microsoft.com/office/powerpoint/2010/main" val="63847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fld id="{32637B58-87C1-446D-BDA9-B06F4BCF7782}" type="datetimeFigureOut">
              <a:rPr lang="en-US" smtClean="0"/>
              <a:pPr/>
              <a:t>12/2/25</a:t>
            </a:fld>
            <a:endParaRPr lang="en-US" dirty="0"/>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a:p>
        </p:txBody>
      </p:sp>
    </p:spTree>
    <p:extLst>
      <p:ext uri="{BB962C8B-B14F-4D97-AF65-F5344CB8AC3E}">
        <p14:creationId xmlns:p14="http://schemas.microsoft.com/office/powerpoint/2010/main" val="4160319304"/>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90" r:id="rId6"/>
    <p:sldLayoutId id="2147483785" r:id="rId7"/>
    <p:sldLayoutId id="2147483786" r:id="rId8"/>
    <p:sldLayoutId id="2147483787" r:id="rId9"/>
    <p:sldLayoutId id="2147483789" r:id="rId10"/>
    <p:sldLayoutId id="2147483788" r:id="rId11"/>
  </p:sldLayoutIdLst>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8C3D5A3-92BF-45E7-A326-86A6B9649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black line&#10;&#10;AI-generated content may be incorrect.">
            <a:extLst>
              <a:ext uri="{FF2B5EF4-FFF2-40B4-BE49-F238E27FC236}">
                <a16:creationId xmlns:a16="http://schemas.microsoft.com/office/drawing/2014/main" id="{B0814AD0-569F-FD4A-4066-2DE1108C5AE7}"/>
              </a:ext>
            </a:extLst>
          </p:cNvPr>
          <p:cNvPicPr>
            <a:picLocks noChangeAspect="1"/>
          </p:cNvPicPr>
          <p:nvPr/>
        </p:nvPicPr>
        <p:blipFill>
          <a:blip r:embed="rId3"/>
          <a:srcRect l="310" r="312" b="2"/>
          <a:stretch>
            <a:fillRect/>
          </a:stretch>
        </p:blipFill>
        <p:spPr>
          <a:xfrm>
            <a:off x="4743448" y="-3"/>
            <a:ext cx="7448550" cy="6857989"/>
          </a:xfrm>
          <a:prstGeom prst="rect">
            <a:avLst/>
          </a:prstGeom>
        </p:spPr>
      </p:pic>
      <p:sp>
        <p:nvSpPr>
          <p:cNvPr id="18" name="Freeform: Shape 17">
            <a:extLst>
              <a:ext uri="{FF2B5EF4-FFF2-40B4-BE49-F238E27FC236}">
                <a16:creationId xmlns:a16="http://schemas.microsoft.com/office/drawing/2014/main" id="{73AB61F4-6725-4877-AB5E-0AA409E6C2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7629526" cy="6858001"/>
          </a:xfrm>
          <a:custGeom>
            <a:avLst/>
            <a:gdLst>
              <a:gd name="connsiteX0" fmla="*/ 0 w 7629526"/>
              <a:gd name="connsiteY0" fmla="*/ 0 h 6858001"/>
              <a:gd name="connsiteX1" fmla="*/ 619126 w 7629526"/>
              <a:gd name="connsiteY1" fmla="*/ 0 h 6858001"/>
              <a:gd name="connsiteX2" fmla="*/ 941496 w 7629526"/>
              <a:gd name="connsiteY2" fmla="*/ 0 h 6858001"/>
              <a:gd name="connsiteX3" fmla="*/ 1481455 w 7629526"/>
              <a:gd name="connsiteY3" fmla="*/ 0 h 6858001"/>
              <a:gd name="connsiteX4" fmla="*/ 2219956 w 7629526"/>
              <a:gd name="connsiteY4" fmla="*/ 0 h 6858001"/>
              <a:gd name="connsiteX5" fmla="*/ 2362200 w 7629526"/>
              <a:gd name="connsiteY5" fmla="*/ 0 h 6858001"/>
              <a:gd name="connsiteX6" fmla="*/ 2620379 w 7629526"/>
              <a:gd name="connsiteY6" fmla="*/ 0 h 6858001"/>
              <a:gd name="connsiteX7" fmla="*/ 3743390 w 7629526"/>
              <a:gd name="connsiteY7" fmla="*/ 0 h 6858001"/>
              <a:gd name="connsiteX8" fmla="*/ 3813033 w 7629526"/>
              <a:gd name="connsiteY8" fmla="*/ 0 h 6858001"/>
              <a:gd name="connsiteX9" fmla="*/ 7629526 w 7629526"/>
              <a:gd name="connsiteY9" fmla="*/ 1 h 6858001"/>
              <a:gd name="connsiteX10" fmla="*/ 7559730 w 7629526"/>
              <a:gd name="connsiteY10" fmla="*/ 1 h 6858001"/>
              <a:gd name="connsiteX11" fmla="*/ 7559730 w 7629526"/>
              <a:gd name="connsiteY11" fmla="*/ 3526 h 6858001"/>
              <a:gd name="connsiteX12" fmla="*/ 7346056 w 7629526"/>
              <a:gd name="connsiteY12" fmla="*/ 14315 h 6858001"/>
              <a:gd name="connsiteX13" fmla="*/ 4857039 w 7629526"/>
              <a:gd name="connsiteY13" fmla="*/ 2772489 h 6858001"/>
              <a:gd name="connsiteX14" fmla="*/ 4858958 w 7629526"/>
              <a:gd name="connsiteY14" fmla="*/ 2848416 h 6858001"/>
              <a:gd name="connsiteX15" fmla="*/ 4857040 w 7629526"/>
              <a:gd name="connsiteY15" fmla="*/ 2848416 h 6858001"/>
              <a:gd name="connsiteX16" fmla="*/ 4857040 w 7629526"/>
              <a:gd name="connsiteY16" fmla="*/ 6858001 h 6858001"/>
              <a:gd name="connsiteX17" fmla="*/ 3095567 w 7629526"/>
              <a:gd name="connsiteY17" fmla="*/ 6858001 h 6858001"/>
              <a:gd name="connsiteX18" fmla="*/ 1481455 w 7629526"/>
              <a:gd name="connsiteY18" fmla="*/ 6858001 h 6858001"/>
              <a:gd name="connsiteX19" fmla="*/ 941496 w 7629526"/>
              <a:gd name="connsiteY19" fmla="*/ 6858001 h 6858001"/>
              <a:gd name="connsiteX20" fmla="*/ 941496 w 7629526"/>
              <a:gd name="connsiteY20" fmla="*/ 6858000 h 6858001"/>
              <a:gd name="connsiteX21" fmla="*/ 619126 w 7629526"/>
              <a:gd name="connsiteY21" fmla="*/ 6858000 h 6858001"/>
              <a:gd name="connsiteX22" fmla="*/ 0 w 7629526"/>
              <a:gd name="connsiteY22"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7629526" h="6858001">
                <a:moveTo>
                  <a:pt x="0" y="0"/>
                </a:moveTo>
                <a:lnTo>
                  <a:pt x="619126" y="0"/>
                </a:lnTo>
                <a:lnTo>
                  <a:pt x="941496" y="0"/>
                </a:lnTo>
                <a:lnTo>
                  <a:pt x="1481455" y="0"/>
                </a:lnTo>
                <a:lnTo>
                  <a:pt x="2219956" y="0"/>
                </a:lnTo>
                <a:lnTo>
                  <a:pt x="2362200" y="0"/>
                </a:lnTo>
                <a:lnTo>
                  <a:pt x="2620379" y="0"/>
                </a:lnTo>
                <a:lnTo>
                  <a:pt x="3743390" y="0"/>
                </a:lnTo>
                <a:lnTo>
                  <a:pt x="3813033" y="0"/>
                </a:lnTo>
                <a:lnTo>
                  <a:pt x="7629526" y="1"/>
                </a:lnTo>
                <a:lnTo>
                  <a:pt x="7559730" y="1"/>
                </a:lnTo>
                <a:lnTo>
                  <a:pt x="7559730" y="3526"/>
                </a:lnTo>
                <a:lnTo>
                  <a:pt x="7346056" y="14315"/>
                </a:lnTo>
                <a:cubicBezTo>
                  <a:pt x="5948012" y="156294"/>
                  <a:pt x="4857039" y="1336986"/>
                  <a:pt x="4857039" y="2772489"/>
                </a:cubicBezTo>
                <a:cubicBezTo>
                  <a:pt x="4857679" y="2797798"/>
                  <a:pt x="4858318" y="2823107"/>
                  <a:pt x="4858958" y="2848416"/>
                </a:cubicBezTo>
                <a:lnTo>
                  <a:pt x="4857040" y="2848416"/>
                </a:lnTo>
                <a:lnTo>
                  <a:pt x="4857040" y="6858001"/>
                </a:lnTo>
                <a:lnTo>
                  <a:pt x="3095567" y="6858001"/>
                </a:lnTo>
                <a:lnTo>
                  <a:pt x="1481455" y="6858001"/>
                </a:lnTo>
                <a:lnTo>
                  <a:pt x="941496" y="6858001"/>
                </a:lnTo>
                <a:lnTo>
                  <a:pt x="941496" y="6858000"/>
                </a:lnTo>
                <a:lnTo>
                  <a:pt x="6191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8FDBD4F9-FE5F-4708-9D31-321F03A606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685801"/>
            <a:ext cx="12191999" cy="6172199"/>
          </a:xfrm>
          <a:custGeom>
            <a:avLst/>
            <a:gdLst>
              <a:gd name="connsiteX0" fmla="*/ 0 w 12191999"/>
              <a:gd name="connsiteY0" fmla="*/ 388716 h 6172199"/>
              <a:gd name="connsiteX1" fmla="*/ 3848509 w 12191999"/>
              <a:gd name="connsiteY1" fmla="*/ 4237225 h 6172199"/>
              <a:gd name="connsiteX2" fmla="*/ 3904658 w 12191999"/>
              <a:gd name="connsiteY2" fmla="*/ 4235805 h 6172199"/>
              <a:gd name="connsiteX3" fmla="*/ 3904658 w 12191999"/>
              <a:gd name="connsiteY3" fmla="*/ 4236304 h 6172199"/>
              <a:gd name="connsiteX4" fmla="*/ 12191999 w 12191999"/>
              <a:gd name="connsiteY4" fmla="*/ 4246836 h 6172199"/>
              <a:gd name="connsiteX5" fmla="*/ 12191999 w 12191999"/>
              <a:gd name="connsiteY5" fmla="*/ 6172199 h 6172199"/>
              <a:gd name="connsiteX6" fmla="*/ 0 w 12191999"/>
              <a:gd name="connsiteY6" fmla="*/ 6172199 h 6172199"/>
              <a:gd name="connsiteX7" fmla="*/ 0 w 12191999"/>
              <a:gd name="connsiteY7" fmla="*/ 5558957 h 6172199"/>
              <a:gd name="connsiteX8" fmla="*/ 0 w 12191999"/>
              <a:gd name="connsiteY8" fmla="*/ 4246836 h 6172199"/>
              <a:gd name="connsiteX9" fmla="*/ 0 w 12191999"/>
              <a:gd name="connsiteY9" fmla="*/ 0 h 6172199"/>
              <a:gd name="connsiteX10" fmla="*/ 2 w 12191999"/>
              <a:gd name="connsiteY10" fmla="*/ 0 h 6172199"/>
              <a:gd name="connsiteX11" fmla="*/ 2 w 12191999"/>
              <a:gd name="connsiteY11" fmla="*/ 283322 h 6172199"/>
              <a:gd name="connsiteX12" fmla="*/ 2666 w 12191999"/>
              <a:gd name="connsiteY12" fmla="*/ 283322 h 6172199"/>
              <a:gd name="connsiteX13" fmla="*/ 0 w 12191999"/>
              <a:gd name="connsiteY13" fmla="*/ 388716 h 6172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172199">
                <a:moveTo>
                  <a:pt x="0" y="388716"/>
                </a:moveTo>
                <a:cubicBezTo>
                  <a:pt x="0" y="2514189"/>
                  <a:pt x="1723036" y="4237225"/>
                  <a:pt x="3848509" y="4237225"/>
                </a:cubicBezTo>
                <a:cubicBezTo>
                  <a:pt x="3867225" y="4236752"/>
                  <a:pt x="3885942" y="4236278"/>
                  <a:pt x="3904658" y="4235805"/>
                </a:cubicBezTo>
                <a:lnTo>
                  <a:pt x="3904658" y="4236304"/>
                </a:lnTo>
                <a:cubicBezTo>
                  <a:pt x="6667105" y="4239815"/>
                  <a:pt x="9429553" y="4243325"/>
                  <a:pt x="12191999" y="4246836"/>
                </a:cubicBezTo>
                <a:lnTo>
                  <a:pt x="12191999" y="6172199"/>
                </a:lnTo>
                <a:lnTo>
                  <a:pt x="0" y="6172199"/>
                </a:lnTo>
                <a:lnTo>
                  <a:pt x="0" y="5558957"/>
                </a:lnTo>
                <a:lnTo>
                  <a:pt x="0" y="4246836"/>
                </a:lnTo>
                <a:close/>
                <a:moveTo>
                  <a:pt x="0" y="0"/>
                </a:moveTo>
                <a:lnTo>
                  <a:pt x="2" y="0"/>
                </a:lnTo>
                <a:lnTo>
                  <a:pt x="2" y="283322"/>
                </a:lnTo>
                <a:lnTo>
                  <a:pt x="2666" y="283322"/>
                </a:lnTo>
                <a:lnTo>
                  <a:pt x="0" y="388716"/>
                </a:lnTo>
                <a:close/>
              </a:path>
            </a:pathLst>
          </a:custGeom>
          <a:solidFill>
            <a:schemeClr val="accent2">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42BFD64-00A6-E870-A221-81B1D6DE4942}"/>
              </a:ext>
            </a:extLst>
          </p:cNvPr>
          <p:cNvSpPr>
            <a:spLocks noGrp="1"/>
          </p:cNvSpPr>
          <p:nvPr>
            <p:ph type="ctrTitle"/>
          </p:nvPr>
        </p:nvSpPr>
        <p:spPr>
          <a:xfrm>
            <a:off x="914400" y="685799"/>
            <a:ext cx="3467099" cy="3876171"/>
          </a:xfrm>
        </p:spPr>
        <p:txBody>
          <a:bodyPr anchor="t">
            <a:normAutofit/>
          </a:bodyPr>
          <a:lstStyle/>
          <a:p>
            <a:pPr>
              <a:lnSpc>
                <a:spcPct val="90000"/>
              </a:lnSpc>
            </a:pPr>
            <a:r>
              <a:rPr lang="en-US" sz="4400" dirty="0">
                <a:solidFill>
                  <a:srgbClr val="FFFFFF"/>
                </a:solidFill>
              </a:rPr>
              <a:t>Heart Disease Risk Prediction using XGBoost</a:t>
            </a:r>
          </a:p>
        </p:txBody>
      </p:sp>
      <p:sp>
        <p:nvSpPr>
          <p:cNvPr id="3" name="Subtitle 2">
            <a:extLst>
              <a:ext uri="{FF2B5EF4-FFF2-40B4-BE49-F238E27FC236}">
                <a16:creationId xmlns:a16="http://schemas.microsoft.com/office/drawing/2014/main" id="{984965E7-ADA3-54EF-8EDA-D0A522105709}"/>
              </a:ext>
            </a:extLst>
          </p:cNvPr>
          <p:cNvSpPr>
            <a:spLocks noGrp="1"/>
          </p:cNvSpPr>
          <p:nvPr>
            <p:ph type="subTitle" idx="1"/>
          </p:nvPr>
        </p:nvSpPr>
        <p:spPr>
          <a:xfrm>
            <a:off x="914399" y="5257800"/>
            <a:ext cx="3467099" cy="904370"/>
          </a:xfrm>
        </p:spPr>
        <p:txBody>
          <a:bodyPr anchor="ctr">
            <a:normAutofit/>
          </a:bodyPr>
          <a:lstStyle/>
          <a:p>
            <a:r>
              <a:rPr lang="en-US" sz="1400">
                <a:solidFill>
                  <a:srgbClr val="FFFFFF"/>
                </a:solidFill>
              </a:rPr>
              <a:t>Model Performance and Application Demo</a:t>
            </a:r>
          </a:p>
        </p:txBody>
      </p:sp>
    </p:spTree>
    <p:extLst>
      <p:ext uri="{BB962C8B-B14F-4D97-AF65-F5344CB8AC3E}">
        <p14:creationId xmlns:p14="http://schemas.microsoft.com/office/powerpoint/2010/main" val="419421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EFE8E1C-6E21-431C-9566-DBE21EB86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0">
            <a:extLst>
              <a:ext uri="{FF2B5EF4-FFF2-40B4-BE49-F238E27FC236}">
                <a16:creationId xmlns:a16="http://schemas.microsoft.com/office/drawing/2014/main" id="{7CB7A76F-CC93-42A5-9502-CBD469E993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56" y="0"/>
            <a:ext cx="12186844" cy="2128964"/>
          </a:xfrm>
          <a:custGeom>
            <a:avLst/>
            <a:gdLst>
              <a:gd name="connsiteX0" fmla="*/ 0 w 12186844"/>
              <a:gd name="connsiteY0" fmla="*/ 0 h 2128964"/>
              <a:gd name="connsiteX1" fmla="*/ 12186844 w 12186844"/>
              <a:gd name="connsiteY1" fmla="*/ 0 h 2128964"/>
              <a:gd name="connsiteX2" fmla="*/ 12186844 w 12186844"/>
              <a:gd name="connsiteY2" fmla="*/ 2128964 h 2128964"/>
              <a:gd name="connsiteX3" fmla="*/ 2247277 w 12186844"/>
              <a:gd name="connsiteY3" fmla="*/ 2128964 h 2128964"/>
              <a:gd name="connsiteX4" fmla="*/ 2326545 w 12186844"/>
              <a:gd name="connsiteY4" fmla="*/ 2125211 h 2128964"/>
              <a:gd name="connsiteX5" fmla="*/ 2191729 w 12186844"/>
              <a:gd name="connsiteY5" fmla="*/ 2118828 h 2128964"/>
              <a:gd name="connsiteX6" fmla="*/ 66975 w 12186844"/>
              <a:gd name="connsiteY6" fmla="*/ 349781 h 212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6844" h="2128964">
                <a:moveTo>
                  <a:pt x="0" y="0"/>
                </a:moveTo>
                <a:lnTo>
                  <a:pt x="12186844" y="0"/>
                </a:lnTo>
                <a:lnTo>
                  <a:pt x="12186844" y="2128964"/>
                </a:lnTo>
                <a:lnTo>
                  <a:pt x="2247277" y="2128964"/>
                </a:lnTo>
                <a:lnTo>
                  <a:pt x="2326545" y="2125211"/>
                </a:lnTo>
                <a:lnTo>
                  <a:pt x="2191729" y="2118828"/>
                </a:lnTo>
                <a:cubicBezTo>
                  <a:pt x="1174891" y="2022044"/>
                  <a:pt x="338983" y="1304706"/>
                  <a:pt x="66975" y="34978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2">
            <a:extLst>
              <a:ext uri="{FF2B5EF4-FFF2-40B4-BE49-F238E27FC236}">
                <a16:creationId xmlns:a16="http://schemas.microsoft.com/office/drawing/2014/main" id="{CC2217DE-76DC-41C2-B926-88035EF63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3672" y="0"/>
            <a:ext cx="2353172" cy="2431959"/>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65DF7C4-F7F2-F1F5-17CA-AB869B260055}"/>
              </a:ext>
            </a:extLst>
          </p:cNvPr>
          <p:cNvSpPr>
            <a:spLocks noGrp="1"/>
          </p:cNvSpPr>
          <p:nvPr>
            <p:ph type="title"/>
          </p:nvPr>
        </p:nvSpPr>
        <p:spPr>
          <a:xfrm>
            <a:off x="914401" y="443947"/>
            <a:ext cx="9914859" cy="1298713"/>
          </a:xfrm>
        </p:spPr>
        <p:txBody>
          <a:bodyPr>
            <a:normAutofit/>
          </a:bodyPr>
          <a:lstStyle/>
          <a:p>
            <a:r>
              <a:rPr lang="en-US" dirty="0">
                <a:solidFill>
                  <a:srgbClr val="FFFFFF"/>
                </a:solidFill>
              </a:rPr>
              <a:t>Project Objectives	</a:t>
            </a:r>
          </a:p>
        </p:txBody>
      </p:sp>
      <p:graphicFrame>
        <p:nvGraphicFramePr>
          <p:cNvPr id="20" name="Content Placeholder 2">
            <a:extLst>
              <a:ext uri="{FF2B5EF4-FFF2-40B4-BE49-F238E27FC236}">
                <a16:creationId xmlns:a16="http://schemas.microsoft.com/office/drawing/2014/main" id="{45CEAC3F-9D25-8EBA-1DDA-496800E9BFB3}"/>
              </a:ext>
            </a:extLst>
          </p:cNvPr>
          <p:cNvGraphicFramePr>
            <a:graphicFrameLocks noGrp="1"/>
          </p:cNvGraphicFramePr>
          <p:nvPr>
            <p:ph idx="1"/>
            <p:extLst>
              <p:ext uri="{D42A27DB-BD31-4B8C-83A1-F6EECF244321}">
                <p14:modId xmlns:p14="http://schemas.microsoft.com/office/powerpoint/2010/main" val="3460049483"/>
              </p:ext>
            </p:extLst>
          </p:nvPr>
        </p:nvGraphicFramePr>
        <p:xfrm>
          <a:off x="914400" y="2705100"/>
          <a:ext cx="10363200" cy="3471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9206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4F6DD5F-8937-4B3E-911F-EB7A7D399C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A11144A-98D8-4F6D-AEFF-CFBAC7669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2672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2">
            <a:extLst>
              <a:ext uri="{FF2B5EF4-FFF2-40B4-BE49-F238E27FC236}">
                <a16:creationId xmlns:a16="http://schemas.microsoft.com/office/drawing/2014/main" id="{EA62355F-6041-49B6-9ADE-ADA617C2A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91741" y="3249454"/>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FA36BA93-6E64-4A0E-B2C4-34541F175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83790" y="3249455"/>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9DA4873-F8E2-AF2E-E758-A3BEAC6FA22B}"/>
              </a:ext>
            </a:extLst>
          </p:cNvPr>
          <p:cNvSpPr>
            <a:spLocks noGrp="1"/>
          </p:cNvSpPr>
          <p:nvPr>
            <p:ph type="title"/>
          </p:nvPr>
        </p:nvSpPr>
        <p:spPr>
          <a:xfrm>
            <a:off x="609601" y="685801"/>
            <a:ext cx="3162299" cy="4314824"/>
          </a:xfrm>
        </p:spPr>
        <p:txBody>
          <a:bodyPr anchor="t">
            <a:normAutofit/>
          </a:bodyPr>
          <a:lstStyle/>
          <a:p>
            <a:r>
              <a:rPr lang="en-US">
                <a:solidFill>
                  <a:srgbClr val="FFFFFF"/>
                </a:solidFill>
              </a:rPr>
              <a:t>Key Input Variables 	</a:t>
            </a:r>
          </a:p>
        </p:txBody>
      </p:sp>
      <p:pic>
        <p:nvPicPr>
          <p:cNvPr id="4" name="Picture 3">
            <a:extLst>
              <a:ext uri="{FF2B5EF4-FFF2-40B4-BE49-F238E27FC236}">
                <a16:creationId xmlns:a16="http://schemas.microsoft.com/office/drawing/2014/main" id="{01F72002-4F35-96DF-40BF-323135FA633F}"/>
              </a:ext>
            </a:extLst>
          </p:cNvPr>
          <p:cNvPicPr>
            <a:picLocks noChangeAspect="1"/>
          </p:cNvPicPr>
          <p:nvPr/>
        </p:nvPicPr>
        <p:blipFill>
          <a:blip r:embed="rId2"/>
          <a:stretch>
            <a:fillRect/>
          </a:stretch>
        </p:blipFill>
        <p:spPr>
          <a:xfrm>
            <a:off x="4933949" y="734845"/>
            <a:ext cx="6648449" cy="2426683"/>
          </a:xfrm>
          <a:prstGeom prst="rect">
            <a:avLst/>
          </a:prstGeom>
        </p:spPr>
      </p:pic>
      <p:sp>
        <p:nvSpPr>
          <p:cNvPr id="3" name="Content Placeholder 2">
            <a:extLst>
              <a:ext uri="{FF2B5EF4-FFF2-40B4-BE49-F238E27FC236}">
                <a16:creationId xmlns:a16="http://schemas.microsoft.com/office/drawing/2014/main" id="{8D60715D-4715-A459-9945-C664C09334BC}"/>
              </a:ext>
            </a:extLst>
          </p:cNvPr>
          <p:cNvSpPr>
            <a:spLocks noGrp="1"/>
          </p:cNvSpPr>
          <p:nvPr>
            <p:ph idx="1"/>
          </p:nvPr>
        </p:nvSpPr>
        <p:spPr>
          <a:xfrm>
            <a:off x="5005490" y="3642663"/>
            <a:ext cx="6648449" cy="2534299"/>
          </a:xfrm>
        </p:spPr>
        <p:txBody>
          <a:bodyPr>
            <a:normAutofit/>
          </a:bodyPr>
          <a:lstStyle/>
          <a:p>
            <a:pPr>
              <a:lnSpc>
                <a:spcPct val="110000"/>
              </a:lnSpc>
            </a:pPr>
            <a:r>
              <a:rPr lang="en-US" sz="1700" b="1" dirty="0"/>
              <a:t>Key Input Variables</a:t>
            </a:r>
          </a:p>
          <a:p>
            <a:pPr lvl="1">
              <a:lnSpc>
                <a:spcPct val="110000"/>
              </a:lnSpc>
            </a:pPr>
            <a:r>
              <a:rPr lang="en-US" sz="1500" b="1" dirty="0"/>
              <a:t>Demographics:</a:t>
            </a:r>
            <a:r>
              <a:rPr lang="en-US" sz="1500" dirty="0"/>
              <a:t> Age, Sex</a:t>
            </a:r>
          </a:p>
          <a:p>
            <a:pPr lvl="1">
              <a:lnSpc>
                <a:spcPct val="110000"/>
              </a:lnSpc>
            </a:pPr>
            <a:r>
              <a:rPr lang="en-US" sz="1500" b="1" dirty="0"/>
              <a:t>Vitals:</a:t>
            </a:r>
            <a:r>
              <a:rPr lang="en-US" sz="1500" dirty="0"/>
              <a:t> Resting Blood Pressure, Cholesterol </a:t>
            </a:r>
          </a:p>
          <a:p>
            <a:pPr lvl="1">
              <a:lnSpc>
                <a:spcPct val="110000"/>
              </a:lnSpc>
            </a:pPr>
            <a:r>
              <a:rPr lang="en-US" sz="1500" b="1" dirty="0"/>
              <a:t>Test Results:</a:t>
            </a:r>
            <a:r>
              <a:rPr lang="en-US" sz="1500" dirty="0"/>
              <a:t> Max Heart Rate, ST Depression, Fluoroscopy vessels</a:t>
            </a:r>
          </a:p>
          <a:p>
            <a:pPr lvl="1">
              <a:lnSpc>
                <a:spcPct val="110000"/>
              </a:lnSpc>
            </a:pPr>
            <a:r>
              <a:rPr lang="en-US" sz="1500" b="1" dirty="0"/>
              <a:t>History:</a:t>
            </a:r>
            <a:r>
              <a:rPr lang="en-US" sz="1500" dirty="0"/>
              <a:t> Chest Pain Type, Exercise Angina</a:t>
            </a:r>
          </a:p>
        </p:txBody>
      </p:sp>
    </p:spTree>
    <p:extLst>
      <p:ext uri="{BB962C8B-B14F-4D97-AF65-F5344CB8AC3E}">
        <p14:creationId xmlns:p14="http://schemas.microsoft.com/office/powerpoint/2010/main" val="1421688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8354E4A1-6024-4D18-89EA-EB7EF53D3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184965AF-C953-45C8-BD68-12F8B5881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56" y="0"/>
            <a:ext cx="12186844" cy="2128964"/>
          </a:xfrm>
          <a:custGeom>
            <a:avLst/>
            <a:gdLst>
              <a:gd name="connsiteX0" fmla="*/ 0 w 12186844"/>
              <a:gd name="connsiteY0" fmla="*/ 0 h 2128964"/>
              <a:gd name="connsiteX1" fmla="*/ 12186844 w 12186844"/>
              <a:gd name="connsiteY1" fmla="*/ 0 h 2128964"/>
              <a:gd name="connsiteX2" fmla="*/ 12186844 w 12186844"/>
              <a:gd name="connsiteY2" fmla="*/ 2128964 h 2128964"/>
              <a:gd name="connsiteX3" fmla="*/ 2247277 w 12186844"/>
              <a:gd name="connsiteY3" fmla="*/ 2128964 h 2128964"/>
              <a:gd name="connsiteX4" fmla="*/ 2326545 w 12186844"/>
              <a:gd name="connsiteY4" fmla="*/ 2125211 h 2128964"/>
              <a:gd name="connsiteX5" fmla="*/ 2191729 w 12186844"/>
              <a:gd name="connsiteY5" fmla="*/ 2118828 h 2128964"/>
              <a:gd name="connsiteX6" fmla="*/ 66975 w 12186844"/>
              <a:gd name="connsiteY6" fmla="*/ 349781 h 212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6844" h="2128964">
                <a:moveTo>
                  <a:pt x="0" y="0"/>
                </a:moveTo>
                <a:lnTo>
                  <a:pt x="12186844" y="0"/>
                </a:lnTo>
                <a:lnTo>
                  <a:pt x="12186844" y="2128964"/>
                </a:lnTo>
                <a:lnTo>
                  <a:pt x="2247277" y="2128964"/>
                </a:lnTo>
                <a:lnTo>
                  <a:pt x="2326545" y="2125211"/>
                </a:lnTo>
                <a:lnTo>
                  <a:pt x="2191729" y="2118828"/>
                </a:lnTo>
                <a:cubicBezTo>
                  <a:pt x="1174891" y="2022044"/>
                  <a:pt x="338983" y="1304706"/>
                  <a:pt x="66975" y="34978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2DECE677-C1FD-4829-8D4A-3C19A04A3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3672" y="0"/>
            <a:ext cx="2353172" cy="2431959"/>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6FA11E8-B5D8-9384-F95C-8053A9C731F6}"/>
              </a:ext>
            </a:extLst>
          </p:cNvPr>
          <p:cNvSpPr>
            <a:spLocks noGrp="1"/>
          </p:cNvSpPr>
          <p:nvPr>
            <p:ph type="title"/>
          </p:nvPr>
        </p:nvSpPr>
        <p:spPr>
          <a:xfrm>
            <a:off x="914400" y="510988"/>
            <a:ext cx="9344578" cy="1156448"/>
          </a:xfrm>
        </p:spPr>
        <p:txBody>
          <a:bodyPr vert="horz" lIns="91440" tIns="45720" rIns="91440" bIns="45720" rtlCol="0">
            <a:normAutofit/>
          </a:bodyPr>
          <a:lstStyle/>
          <a:p>
            <a:pPr>
              <a:lnSpc>
                <a:spcPct val="90000"/>
              </a:lnSpc>
            </a:pPr>
            <a:r>
              <a:rPr lang="en-US" sz="3700">
                <a:solidFill>
                  <a:srgbClr val="FFFFFF"/>
                </a:solidFill>
              </a:rPr>
              <a:t>High-Performing Model for Heart Disease Detection</a:t>
            </a:r>
          </a:p>
        </p:txBody>
      </p:sp>
      <p:sp>
        <p:nvSpPr>
          <p:cNvPr id="8" name="Rectangle 2">
            <a:extLst>
              <a:ext uri="{FF2B5EF4-FFF2-40B4-BE49-F238E27FC236}">
                <a16:creationId xmlns:a16="http://schemas.microsoft.com/office/drawing/2014/main" id="{B43749BB-F56F-B8D7-B7C3-ED464CE51022}"/>
              </a:ext>
            </a:extLst>
          </p:cNvPr>
          <p:cNvSpPr>
            <a:spLocks noGrp="1" noChangeArrowheads="1"/>
          </p:cNvSpPr>
          <p:nvPr>
            <p:ph idx="1"/>
          </p:nvPr>
        </p:nvSpPr>
        <p:spPr bwMode="auto">
          <a:xfrm>
            <a:off x="914400" y="2593074"/>
            <a:ext cx="5589767" cy="357912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Diagnostic Power (ROC AUC): 89%</a:t>
            </a:r>
            <a:endParaRPr kumimoji="0" lang="en-US" altLang="en-US" b="0" i="0" u="none" strike="noStrike" cap="none" normalizeH="0" baseline="0" dirty="0">
              <a:ln>
                <a:noFill/>
              </a:ln>
              <a:effectLst/>
              <a:latin typeface="Arial" panose="020B0604020202020204" pitchFamily="34" charset="0"/>
            </a:endParaRPr>
          </a:p>
          <a:p>
            <a:pPr marL="457200" lvl="1" indent="0" eaLnBrk="0" fontAlgn="base" hangingPunct="0">
              <a:spcBef>
                <a:spcPct val="0"/>
              </a:spcBef>
              <a:spcAft>
                <a:spcPts val="600"/>
              </a:spcAft>
              <a:buClrTx/>
              <a:buFontTx/>
              <a:buChar char="•"/>
            </a:pPr>
            <a:r>
              <a:rPr kumimoji="0" lang="en-US" altLang="en-US" b="0" i="0" u="none" strike="noStrike" cap="none" normalizeH="0" baseline="0" dirty="0">
                <a:ln>
                  <a:noFill/>
                </a:ln>
                <a:effectLst/>
                <a:latin typeface="Arial" panose="020B0604020202020204" pitchFamily="34" charset="0"/>
              </a:rPr>
              <a:t>This indicates </a:t>
            </a:r>
            <a:r>
              <a:rPr kumimoji="0" lang="en-US" altLang="en-US" b="1" i="0" u="none" strike="noStrike" cap="none" normalizeH="0" baseline="0" dirty="0">
                <a:ln>
                  <a:noFill/>
                </a:ln>
                <a:effectLst/>
                <a:latin typeface="Arial" panose="020B0604020202020204" pitchFamily="34" charset="0"/>
              </a:rPr>
              <a:t>Excellent</a:t>
            </a:r>
            <a:r>
              <a:rPr kumimoji="0" lang="en-US" altLang="en-US" b="0" i="0" u="none" strike="noStrike" cap="none" normalizeH="0" baseline="0" dirty="0">
                <a:ln>
                  <a:noFill/>
                </a:ln>
                <a:effectLst/>
                <a:latin typeface="Arial" panose="020B0604020202020204" pitchFamily="34" charset="0"/>
              </a:rPr>
              <a:t> discrimination, showing the model is highly effective at ranking patients who have the disease above those who don't.</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Overall Accuracy: 80%</a:t>
            </a:r>
            <a:endParaRPr kumimoji="0" lang="en-US" altLang="en-US" b="0" i="0" u="none" strike="noStrike" cap="none" normalizeH="0" baseline="0" dirty="0">
              <a:ln>
                <a:noFill/>
              </a:ln>
              <a:effectLst/>
              <a:latin typeface="Arial" panose="020B0604020202020204" pitchFamily="34" charset="0"/>
            </a:endParaRPr>
          </a:p>
          <a:p>
            <a:pPr marL="457200" lvl="1" indent="0" eaLnBrk="0" fontAlgn="base" hangingPunct="0">
              <a:spcBef>
                <a:spcPct val="0"/>
              </a:spcBef>
              <a:spcAft>
                <a:spcPts val="600"/>
              </a:spcAft>
              <a:buClrTx/>
              <a:buFontTx/>
              <a:buChar char="•"/>
            </a:pPr>
            <a:r>
              <a:rPr kumimoji="0" lang="en-US" altLang="en-US" b="0" i="0" u="none" strike="noStrike" cap="none" normalizeH="0" baseline="0" dirty="0">
                <a:ln>
                  <a:noFill/>
                </a:ln>
                <a:effectLst/>
                <a:latin typeface="Arial" panose="020B0604020202020204" pitchFamily="34" charset="0"/>
              </a:rPr>
              <a:t>The model correctly classifies the outcome for </a:t>
            </a:r>
            <a:r>
              <a:rPr kumimoji="0" lang="en-US" altLang="en-US" b="1" i="0" u="none" strike="noStrike" cap="none" normalizeH="0" baseline="0" dirty="0">
                <a:ln>
                  <a:noFill/>
                </a:ln>
                <a:effectLst/>
                <a:latin typeface="Arial" panose="020B0604020202020204" pitchFamily="34" charset="0"/>
              </a:rPr>
              <a:t>8 out of every 10 patients. </a:t>
            </a:r>
            <a:endParaRPr kumimoji="0" lang="en-US" altLang="en-US"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dirty="0">
              <a:ln>
                <a:noFill/>
              </a:ln>
              <a:effectLst/>
              <a:latin typeface="Arial" panose="020B0604020202020204" pitchFamily="34" charset="0"/>
            </a:endParaRPr>
          </a:p>
        </p:txBody>
      </p:sp>
      <p:pic>
        <p:nvPicPr>
          <p:cNvPr id="5" name="Picture 4" descr="A screenshot of a computer screen&#10;&#10;AI-generated content may be incorrect.">
            <a:extLst>
              <a:ext uri="{FF2B5EF4-FFF2-40B4-BE49-F238E27FC236}">
                <a16:creationId xmlns:a16="http://schemas.microsoft.com/office/drawing/2014/main" id="{CBCB5FAF-69DC-077D-1CC2-D362D1ED663E}"/>
              </a:ext>
            </a:extLst>
          </p:cNvPr>
          <p:cNvPicPr>
            <a:picLocks noChangeAspect="1"/>
          </p:cNvPicPr>
          <p:nvPr/>
        </p:nvPicPr>
        <p:blipFill>
          <a:blip r:embed="rId3"/>
          <a:stretch>
            <a:fillRect/>
          </a:stretch>
        </p:blipFill>
        <p:spPr>
          <a:xfrm>
            <a:off x="7010401" y="3441711"/>
            <a:ext cx="4572000" cy="1886615"/>
          </a:xfrm>
          <a:prstGeom prst="rect">
            <a:avLst/>
          </a:prstGeom>
        </p:spPr>
      </p:pic>
    </p:spTree>
    <p:extLst>
      <p:ext uri="{BB962C8B-B14F-4D97-AF65-F5344CB8AC3E}">
        <p14:creationId xmlns:p14="http://schemas.microsoft.com/office/powerpoint/2010/main" val="1621185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8354E4A1-6024-4D18-89EA-EB7EF53D3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84965AF-C953-45C8-BD68-12F8B5881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56" y="0"/>
            <a:ext cx="12186844" cy="2128964"/>
          </a:xfrm>
          <a:custGeom>
            <a:avLst/>
            <a:gdLst>
              <a:gd name="connsiteX0" fmla="*/ 0 w 12186844"/>
              <a:gd name="connsiteY0" fmla="*/ 0 h 2128964"/>
              <a:gd name="connsiteX1" fmla="*/ 12186844 w 12186844"/>
              <a:gd name="connsiteY1" fmla="*/ 0 h 2128964"/>
              <a:gd name="connsiteX2" fmla="*/ 12186844 w 12186844"/>
              <a:gd name="connsiteY2" fmla="*/ 2128964 h 2128964"/>
              <a:gd name="connsiteX3" fmla="*/ 2247277 w 12186844"/>
              <a:gd name="connsiteY3" fmla="*/ 2128964 h 2128964"/>
              <a:gd name="connsiteX4" fmla="*/ 2326545 w 12186844"/>
              <a:gd name="connsiteY4" fmla="*/ 2125211 h 2128964"/>
              <a:gd name="connsiteX5" fmla="*/ 2191729 w 12186844"/>
              <a:gd name="connsiteY5" fmla="*/ 2118828 h 2128964"/>
              <a:gd name="connsiteX6" fmla="*/ 66975 w 12186844"/>
              <a:gd name="connsiteY6" fmla="*/ 349781 h 212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6844" h="2128964">
                <a:moveTo>
                  <a:pt x="0" y="0"/>
                </a:moveTo>
                <a:lnTo>
                  <a:pt x="12186844" y="0"/>
                </a:lnTo>
                <a:lnTo>
                  <a:pt x="12186844" y="2128964"/>
                </a:lnTo>
                <a:lnTo>
                  <a:pt x="2247277" y="2128964"/>
                </a:lnTo>
                <a:lnTo>
                  <a:pt x="2326545" y="2125211"/>
                </a:lnTo>
                <a:lnTo>
                  <a:pt x="2191729" y="2118828"/>
                </a:lnTo>
                <a:cubicBezTo>
                  <a:pt x="1174891" y="2022044"/>
                  <a:pt x="338983" y="1304706"/>
                  <a:pt x="66975" y="34978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2DECE677-C1FD-4829-8D4A-3C19A04A3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3672" y="0"/>
            <a:ext cx="2353172" cy="2431959"/>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EE20CA8-0EF5-0622-72AB-8AE499C6876A}"/>
              </a:ext>
            </a:extLst>
          </p:cNvPr>
          <p:cNvSpPr>
            <a:spLocks noGrp="1"/>
          </p:cNvSpPr>
          <p:nvPr>
            <p:ph type="title"/>
          </p:nvPr>
        </p:nvSpPr>
        <p:spPr>
          <a:xfrm>
            <a:off x="914400" y="510988"/>
            <a:ext cx="9344578" cy="1156448"/>
          </a:xfrm>
        </p:spPr>
        <p:txBody>
          <a:bodyPr>
            <a:normAutofit/>
          </a:bodyPr>
          <a:lstStyle/>
          <a:p>
            <a:r>
              <a:rPr lang="en-US">
                <a:solidFill>
                  <a:srgbClr val="FFFFFF"/>
                </a:solidFill>
              </a:rPr>
              <a:t>Analyzing Prediction Accuracy</a:t>
            </a:r>
          </a:p>
        </p:txBody>
      </p:sp>
      <p:sp>
        <p:nvSpPr>
          <p:cNvPr id="4" name="Rectangle 1">
            <a:extLst>
              <a:ext uri="{FF2B5EF4-FFF2-40B4-BE49-F238E27FC236}">
                <a16:creationId xmlns:a16="http://schemas.microsoft.com/office/drawing/2014/main" id="{3823B42F-CC0B-8F33-8D17-D121368816E3}"/>
              </a:ext>
            </a:extLst>
          </p:cNvPr>
          <p:cNvSpPr>
            <a:spLocks noGrp="1" noChangeArrowheads="1"/>
          </p:cNvSpPr>
          <p:nvPr>
            <p:ph idx="1"/>
          </p:nvPr>
        </p:nvSpPr>
        <p:spPr bwMode="auto">
          <a:xfrm>
            <a:off x="914400" y="2593074"/>
            <a:ext cx="5589767" cy="357912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True Negatives (Top-Left):</a:t>
            </a:r>
            <a:r>
              <a:rPr kumimoji="0" lang="en-US" altLang="en-US" b="0" i="0" u="none" strike="noStrike" cap="none" normalizeH="0" baseline="0" dirty="0">
                <a:ln>
                  <a:noFill/>
                </a:ln>
                <a:effectLst/>
                <a:latin typeface="Arial" panose="020B0604020202020204" pitchFamily="34" charset="0"/>
              </a:rPr>
              <a:t> 29 cases correctly identified as "No Disease."</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False Positives (Top-Right):</a:t>
            </a:r>
            <a:r>
              <a:rPr kumimoji="0" lang="en-US" altLang="en-US" b="0" i="0" u="none" strike="noStrike" cap="none" normalizeH="0" baseline="0" dirty="0">
                <a:ln>
                  <a:noFill/>
                </a:ln>
                <a:effectLst/>
                <a:latin typeface="Arial" panose="020B0604020202020204" pitchFamily="34" charset="0"/>
              </a:rPr>
              <a:t> 3 cases incorrectly identified as "Disease."</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False Negatives (Bottom-Left):</a:t>
            </a:r>
            <a:r>
              <a:rPr kumimoji="0" lang="en-US" altLang="en-US" b="0" i="0" u="none" strike="noStrike" cap="none" normalizeH="0" baseline="0" dirty="0">
                <a:ln>
                  <a:noFill/>
                </a:ln>
                <a:effectLst/>
                <a:latin typeface="Arial" panose="020B0604020202020204" pitchFamily="34" charset="0"/>
              </a:rPr>
              <a:t> 9 cases incorrectly identified as "No Disease."</a:t>
            </a:r>
          </a:p>
          <a:p>
            <a:pPr marL="0" marR="0" lvl="0" indent="0" defTabSz="914400" rtl="0" eaLnBrk="0" fontAlgn="base" latinLnBrk="0" hangingPunct="0">
              <a:spcBef>
                <a:spcPct val="0"/>
              </a:spcBef>
              <a:spcAft>
                <a:spcPts val="600"/>
              </a:spcAft>
              <a:buClrTx/>
              <a:buSzTx/>
              <a:buFontTx/>
              <a:buChar char="•"/>
              <a:tabLst/>
            </a:pPr>
            <a:r>
              <a:rPr kumimoji="0" lang="en-US" altLang="en-US" b="1" i="0" u="none" strike="noStrike" cap="none" normalizeH="0" baseline="0" dirty="0">
                <a:ln>
                  <a:noFill/>
                </a:ln>
                <a:effectLst/>
                <a:latin typeface="Arial" panose="020B0604020202020204" pitchFamily="34" charset="0"/>
              </a:rPr>
              <a:t>True Positives (Bottom-Right):</a:t>
            </a:r>
            <a:r>
              <a:rPr kumimoji="0" lang="en-US" altLang="en-US" b="0" i="0" u="none" strike="noStrike" cap="none" normalizeH="0" baseline="0" dirty="0">
                <a:ln>
                  <a:noFill/>
                </a:ln>
                <a:effectLst/>
                <a:latin typeface="Arial" panose="020B0604020202020204" pitchFamily="34" charset="0"/>
              </a:rPr>
              <a:t> 19 cases correctly identified as "Disease."</a:t>
            </a:r>
          </a:p>
        </p:txBody>
      </p:sp>
      <p:pic>
        <p:nvPicPr>
          <p:cNvPr id="3" name="Picture 2">
            <a:extLst>
              <a:ext uri="{FF2B5EF4-FFF2-40B4-BE49-F238E27FC236}">
                <a16:creationId xmlns:a16="http://schemas.microsoft.com/office/drawing/2014/main" id="{F927ECDE-9A8D-A926-7FA4-058AA125D5A7}"/>
              </a:ext>
            </a:extLst>
          </p:cNvPr>
          <p:cNvPicPr>
            <a:picLocks noChangeAspect="1"/>
          </p:cNvPicPr>
          <p:nvPr/>
        </p:nvPicPr>
        <p:blipFill>
          <a:blip r:embed="rId3"/>
          <a:stretch>
            <a:fillRect/>
          </a:stretch>
        </p:blipFill>
        <p:spPr>
          <a:xfrm>
            <a:off x="7390078" y="2593075"/>
            <a:ext cx="3812646" cy="3583888"/>
          </a:xfrm>
          <a:prstGeom prst="rect">
            <a:avLst/>
          </a:prstGeom>
        </p:spPr>
      </p:pic>
    </p:spTree>
    <p:extLst>
      <p:ext uri="{BB962C8B-B14F-4D97-AF65-F5344CB8AC3E}">
        <p14:creationId xmlns:p14="http://schemas.microsoft.com/office/powerpoint/2010/main" val="580974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8354E4A1-6024-4D18-89EA-EB7EF53D3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184965AF-C953-45C8-BD68-12F8B5881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56" y="0"/>
            <a:ext cx="12186844" cy="2128964"/>
          </a:xfrm>
          <a:custGeom>
            <a:avLst/>
            <a:gdLst>
              <a:gd name="connsiteX0" fmla="*/ 0 w 12186844"/>
              <a:gd name="connsiteY0" fmla="*/ 0 h 2128964"/>
              <a:gd name="connsiteX1" fmla="*/ 12186844 w 12186844"/>
              <a:gd name="connsiteY1" fmla="*/ 0 h 2128964"/>
              <a:gd name="connsiteX2" fmla="*/ 12186844 w 12186844"/>
              <a:gd name="connsiteY2" fmla="*/ 2128964 h 2128964"/>
              <a:gd name="connsiteX3" fmla="*/ 2247277 w 12186844"/>
              <a:gd name="connsiteY3" fmla="*/ 2128964 h 2128964"/>
              <a:gd name="connsiteX4" fmla="*/ 2326545 w 12186844"/>
              <a:gd name="connsiteY4" fmla="*/ 2125211 h 2128964"/>
              <a:gd name="connsiteX5" fmla="*/ 2191729 w 12186844"/>
              <a:gd name="connsiteY5" fmla="*/ 2118828 h 2128964"/>
              <a:gd name="connsiteX6" fmla="*/ 66975 w 12186844"/>
              <a:gd name="connsiteY6" fmla="*/ 349781 h 212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6844" h="2128964">
                <a:moveTo>
                  <a:pt x="0" y="0"/>
                </a:moveTo>
                <a:lnTo>
                  <a:pt x="12186844" y="0"/>
                </a:lnTo>
                <a:lnTo>
                  <a:pt x="12186844" y="2128964"/>
                </a:lnTo>
                <a:lnTo>
                  <a:pt x="2247277" y="2128964"/>
                </a:lnTo>
                <a:lnTo>
                  <a:pt x="2326545" y="2125211"/>
                </a:lnTo>
                <a:lnTo>
                  <a:pt x="2191729" y="2118828"/>
                </a:lnTo>
                <a:cubicBezTo>
                  <a:pt x="1174891" y="2022044"/>
                  <a:pt x="338983" y="1304706"/>
                  <a:pt x="66975" y="34978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Freeform: Shape 64">
            <a:extLst>
              <a:ext uri="{FF2B5EF4-FFF2-40B4-BE49-F238E27FC236}">
                <a16:creationId xmlns:a16="http://schemas.microsoft.com/office/drawing/2014/main" id="{2DECE677-C1FD-4829-8D4A-3C19A04A3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3672" y="0"/>
            <a:ext cx="2353172" cy="2431959"/>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595126F-81D7-D284-F0BE-B8797CCCD356}"/>
              </a:ext>
            </a:extLst>
          </p:cNvPr>
          <p:cNvSpPr>
            <a:spLocks noGrp="1"/>
          </p:cNvSpPr>
          <p:nvPr>
            <p:ph type="title"/>
          </p:nvPr>
        </p:nvSpPr>
        <p:spPr>
          <a:xfrm>
            <a:off x="798896" y="484264"/>
            <a:ext cx="10068025" cy="1156448"/>
          </a:xfrm>
        </p:spPr>
        <p:txBody>
          <a:bodyPr vert="horz" lIns="91440" tIns="45720" rIns="91440" bIns="45720" rtlCol="0">
            <a:normAutofit fontScale="90000"/>
          </a:bodyPr>
          <a:lstStyle/>
          <a:p>
            <a:r>
              <a:rPr lang="en-US" dirty="0">
                <a:solidFill>
                  <a:srgbClr val="FFFFFF"/>
                </a:solidFill>
              </a:rPr>
              <a:t>Top 5 Features that Drives the Prediction?</a:t>
            </a:r>
          </a:p>
        </p:txBody>
      </p:sp>
      <p:sp>
        <p:nvSpPr>
          <p:cNvPr id="6" name="Content Placeholder 5">
            <a:extLst>
              <a:ext uri="{FF2B5EF4-FFF2-40B4-BE49-F238E27FC236}">
                <a16:creationId xmlns:a16="http://schemas.microsoft.com/office/drawing/2014/main" id="{1DCA6149-D50E-C13E-68F6-229290DA7C74}"/>
              </a:ext>
            </a:extLst>
          </p:cNvPr>
          <p:cNvSpPr>
            <a:spLocks noGrp="1"/>
          </p:cNvSpPr>
          <p:nvPr>
            <p:ph idx="1"/>
          </p:nvPr>
        </p:nvSpPr>
        <p:spPr>
          <a:xfrm>
            <a:off x="414779" y="2593074"/>
            <a:ext cx="4892512" cy="2412559"/>
          </a:xfrm>
        </p:spPr>
        <p:txBody>
          <a:bodyPr vert="horz" lIns="91440" tIns="45720" rIns="91440" bIns="45720" rtlCol="0">
            <a:noAutofit/>
          </a:bodyPr>
          <a:lstStyle/>
          <a:p>
            <a:pPr>
              <a:lnSpc>
                <a:spcPct val="110000"/>
              </a:lnSpc>
              <a:spcAft>
                <a:spcPts val="600"/>
              </a:spcAft>
              <a:buAutoNum type="arabicPeriod"/>
            </a:pPr>
            <a:r>
              <a:rPr lang="en-US" sz="1200" b="1" dirty="0"/>
              <a:t>Cholesterol </a:t>
            </a:r>
            <a:r>
              <a:rPr lang="en-US" sz="1200" dirty="0"/>
              <a:t>(serum cholesterol)</a:t>
            </a:r>
            <a:endParaRPr lang="en-US" sz="1200" b="1" dirty="0"/>
          </a:p>
          <a:p>
            <a:pPr>
              <a:lnSpc>
                <a:spcPct val="110000"/>
              </a:lnSpc>
              <a:spcAft>
                <a:spcPts val="600"/>
              </a:spcAft>
              <a:buAutoNum type="arabicPeriod"/>
            </a:pPr>
            <a:r>
              <a:rPr lang="en-US" sz="1200" b="1" dirty="0"/>
              <a:t>Age </a:t>
            </a:r>
            <a:r>
              <a:rPr lang="en-US" sz="1200" dirty="0"/>
              <a:t>(Patient Age)</a:t>
            </a:r>
            <a:endParaRPr lang="en-US" sz="1200" b="1" dirty="0"/>
          </a:p>
          <a:p>
            <a:pPr>
              <a:lnSpc>
                <a:spcPct val="110000"/>
              </a:lnSpc>
              <a:spcAft>
                <a:spcPts val="600"/>
              </a:spcAft>
              <a:buAutoNum type="arabicPeriod"/>
            </a:pPr>
            <a:r>
              <a:rPr lang="en-US" sz="1200" b="1" dirty="0"/>
              <a:t>Old Peak (</a:t>
            </a:r>
            <a:r>
              <a:rPr lang="en-US" sz="1200" dirty="0"/>
              <a:t>ST depression induced by exercise relative to rest</a:t>
            </a:r>
            <a:r>
              <a:rPr lang="en-US" sz="1200" b="1" dirty="0"/>
              <a:t>)</a:t>
            </a:r>
          </a:p>
          <a:p>
            <a:pPr>
              <a:lnSpc>
                <a:spcPct val="110000"/>
              </a:lnSpc>
              <a:spcAft>
                <a:spcPts val="600"/>
              </a:spcAft>
              <a:buAutoNum type="arabicPeriod"/>
            </a:pPr>
            <a:r>
              <a:rPr lang="en-US" sz="1200" b="1" dirty="0"/>
              <a:t>Thalch </a:t>
            </a:r>
            <a:r>
              <a:rPr lang="en-US" sz="1200" dirty="0"/>
              <a:t>(maximum heart rate achieved)</a:t>
            </a:r>
          </a:p>
          <a:p>
            <a:pPr>
              <a:lnSpc>
                <a:spcPct val="110000"/>
              </a:lnSpc>
              <a:spcAft>
                <a:spcPts val="600"/>
              </a:spcAft>
              <a:buAutoNum type="arabicPeriod"/>
            </a:pPr>
            <a:r>
              <a:rPr lang="en-US" sz="1200" b="1" dirty="0"/>
              <a:t>Major Vessel </a:t>
            </a:r>
            <a:r>
              <a:rPr lang="en-US" sz="1200" dirty="0"/>
              <a:t>(number of major vessels (0-3) colored by fluoroscopy)</a:t>
            </a:r>
          </a:p>
        </p:txBody>
      </p:sp>
      <p:pic>
        <p:nvPicPr>
          <p:cNvPr id="7" name="Picture 6">
            <a:extLst>
              <a:ext uri="{FF2B5EF4-FFF2-40B4-BE49-F238E27FC236}">
                <a16:creationId xmlns:a16="http://schemas.microsoft.com/office/drawing/2014/main" id="{7D67ABF1-AFC4-9CED-AA9E-EDC132DD03F0}"/>
              </a:ext>
            </a:extLst>
          </p:cNvPr>
          <p:cNvPicPr>
            <a:picLocks noChangeAspect="1"/>
          </p:cNvPicPr>
          <p:nvPr/>
        </p:nvPicPr>
        <p:blipFill>
          <a:blip r:embed="rId3"/>
          <a:stretch>
            <a:fillRect/>
          </a:stretch>
        </p:blipFill>
        <p:spPr>
          <a:xfrm>
            <a:off x="5200453" y="2128964"/>
            <a:ext cx="6576768" cy="3666548"/>
          </a:xfrm>
          <a:prstGeom prst="rect">
            <a:avLst/>
          </a:prstGeom>
        </p:spPr>
      </p:pic>
    </p:spTree>
    <p:extLst>
      <p:ext uri="{BB962C8B-B14F-4D97-AF65-F5344CB8AC3E}">
        <p14:creationId xmlns:p14="http://schemas.microsoft.com/office/powerpoint/2010/main" val="2325578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E3D93-0499-7804-B585-6909A12CD4A4}"/>
              </a:ext>
            </a:extLst>
          </p:cNvPr>
          <p:cNvSpPr>
            <a:spLocks noGrp="1"/>
          </p:cNvSpPr>
          <p:nvPr>
            <p:ph type="title"/>
          </p:nvPr>
        </p:nvSpPr>
        <p:spPr/>
        <p:txBody>
          <a:bodyPr/>
          <a:lstStyle/>
          <a:p>
            <a:r>
              <a:rPr lang="en-US" dirty="0"/>
              <a:t>Interactive Prediction Tool (Built with Streamlit)</a:t>
            </a:r>
          </a:p>
        </p:txBody>
      </p:sp>
      <p:sp>
        <p:nvSpPr>
          <p:cNvPr id="5" name="Content Placeholder 4">
            <a:extLst>
              <a:ext uri="{FF2B5EF4-FFF2-40B4-BE49-F238E27FC236}">
                <a16:creationId xmlns:a16="http://schemas.microsoft.com/office/drawing/2014/main" id="{73FBABC3-F533-2B51-591B-20F72A3755EC}"/>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0C699B30-B161-3D53-1A1D-4280F8E2D649}"/>
              </a:ext>
            </a:extLst>
          </p:cNvPr>
          <p:cNvPicPr>
            <a:picLocks noChangeAspect="1"/>
          </p:cNvPicPr>
          <p:nvPr/>
        </p:nvPicPr>
        <p:blipFill>
          <a:blip r:embed="rId3"/>
          <a:stretch>
            <a:fillRect/>
          </a:stretch>
        </p:blipFill>
        <p:spPr>
          <a:xfrm>
            <a:off x="905256" y="1919671"/>
            <a:ext cx="9924004" cy="4584289"/>
          </a:xfrm>
          <a:prstGeom prst="rect">
            <a:avLst/>
          </a:prstGeom>
        </p:spPr>
      </p:pic>
    </p:spTree>
    <p:extLst>
      <p:ext uri="{BB962C8B-B14F-4D97-AF65-F5344CB8AC3E}">
        <p14:creationId xmlns:p14="http://schemas.microsoft.com/office/powerpoint/2010/main" val="3371122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4DD10E6-914E-4F17-ABD5-8F016C23EE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F9023182-6D3E-438B-8E1A-DBF47C70D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351628" cy="6858000"/>
          </a:xfrm>
          <a:custGeom>
            <a:avLst/>
            <a:gdLst>
              <a:gd name="connsiteX0" fmla="*/ 0 w 7351628"/>
              <a:gd name="connsiteY0" fmla="*/ 0 h 6858000"/>
              <a:gd name="connsiteX1" fmla="*/ 1482273 w 7351628"/>
              <a:gd name="connsiteY1" fmla="*/ 0 h 6858000"/>
              <a:gd name="connsiteX2" fmla="*/ 2438400 w 7351628"/>
              <a:gd name="connsiteY2" fmla="*/ 0 h 6858000"/>
              <a:gd name="connsiteX3" fmla="*/ 7351628 w 7351628"/>
              <a:gd name="connsiteY3" fmla="*/ 0 h 6858000"/>
              <a:gd name="connsiteX4" fmla="*/ 3920673 w 7351628"/>
              <a:gd name="connsiteY4" fmla="*/ 3430955 h 6858000"/>
              <a:gd name="connsiteX5" fmla="*/ 7175072 w 7351628"/>
              <a:gd name="connsiteY5" fmla="*/ 6857446 h 6858000"/>
              <a:gd name="connsiteX6" fmla="*/ 7196984 w 7351628"/>
              <a:gd name="connsiteY6" fmla="*/ 6858000 h 6858000"/>
              <a:gd name="connsiteX7" fmla="*/ 2438400 w 7351628"/>
              <a:gd name="connsiteY7" fmla="*/ 6858000 h 6858000"/>
              <a:gd name="connsiteX8" fmla="*/ 1482273 w 7351628"/>
              <a:gd name="connsiteY8" fmla="*/ 6858000 h 6858000"/>
              <a:gd name="connsiteX9" fmla="*/ 0 w 7351628"/>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51628" h="6858000">
                <a:moveTo>
                  <a:pt x="0" y="0"/>
                </a:moveTo>
                <a:lnTo>
                  <a:pt x="1482273" y="0"/>
                </a:lnTo>
                <a:lnTo>
                  <a:pt x="2438400" y="0"/>
                </a:lnTo>
                <a:lnTo>
                  <a:pt x="7351628" y="0"/>
                </a:lnTo>
                <a:cubicBezTo>
                  <a:pt x="5456764" y="0"/>
                  <a:pt x="3920673" y="1536091"/>
                  <a:pt x="3920673" y="3430955"/>
                </a:cubicBezTo>
                <a:cubicBezTo>
                  <a:pt x="3920673" y="5266604"/>
                  <a:pt x="5362258" y="6765554"/>
                  <a:pt x="7175072" y="6857446"/>
                </a:cubicBezTo>
                <a:lnTo>
                  <a:pt x="7196984" y="6858000"/>
                </a:lnTo>
                <a:lnTo>
                  <a:pt x="2438400" y="6858000"/>
                </a:lnTo>
                <a:lnTo>
                  <a:pt x="1482273"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24">
            <a:extLst>
              <a:ext uri="{FF2B5EF4-FFF2-40B4-BE49-F238E27FC236}">
                <a16:creationId xmlns:a16="http://schemas.microsoft.com/office/drawing/2014/main" id="{66989A7B-378A-4C5A-83D3-92770B761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56350" y="0"/>
            <a:ext cx="7351628" cy="6858000"/>
          </a:xfrm>
          <a:custGeom>
            <a:avLst/>
            <a:gdLst>
              <a:gd name="connsiteX0" fmla="*/ 0 w 7351628"/>
              <a:gd name="connsiteY0" fmla="*/ 0 h 6858000"/>
              <a:gd name="connsiteX1" fmla="*/ 1482273 w 7351628"/>
              <a:gd name="connsiteY1" fmla="*/ 0 h 6858000"/>
              <a:gd name="connsiteX2" fmla="*/ 2438400 w 7351628"/>
              <a:gd name="connsiteY2" fmla="*/ 0 h 6858000"/>
              <a:gd name="connsiteX3" fmla="*/ 7351628 w 7351628"/>
              <a:gd name="connsiteY3" fmla="*/ 0 h 6858000"/>
              <a:gd name="connsiteX4" fmla="*/ 3920673 w 7351628"/>
              <a:gd name="connsiteY4" fmla="*/ 3430955 h 6858000"/>
              <a:gd name="connsiteX5" fmla="*/ 7175072 w 7351628"/>
              <a:gd name="connsiteY5" fmla="*/ 6857446 h 6858000"/>
              <a:gd name="connsiteX6" fmla="*/ 7196984 w 7351628"/>
              <a:gd name="connsiteY6" fmla="*/ 6858000 h 6858000"/>
              <a:gd name="connsiteX7" fmla="*/ 2438400 w 7351628"/>
              <a:gd name="connsiteY7" fmla="*/ 6858000 h 6858000"/>
              <a:gd name="connsiteX8" fmla="*/ 1482273 w 7351628"/>
              <a:gd name="connsiteY8" fmla="*/ 6858000 h 6858000"/>
              <a:gd name="connsiteX9" fmla="*/ 0 w 7351628"/>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351628" h="6858000">
                <a:moveTo>
                  <a:pt x="0" y="0"/>
                </a:moveTo>
                <a:lnTo>
                  <a:pt x="1482273" y="0"/>
                </a:lnTo>
                <a:lnTo>
                  <a:pt x="2438400" y="0"/>
                </a:lnTo>
                <a:lnTo>
                  <a:pt x="7351628" y="0"/>
                </a:lnTo>
                <a:cubicBezTo>
                  <a:pt x="5456764" y="0"/>
                  <a:pt x="3920673" y="1536091"/>
                  <a:pt x="3920673" y="3430955"/>
                </a:cubicBezTo>
                <a:cubicBezTo>
                  <a:pt x="3920673" y="5266604"/>
                  <a:pt x="5362258" y="6765554"/>
                  <a:pt x="7175072" y="6857446"/>
                </a:cubicBezTo>
                <a:lnTo>
                  <a:pt x="7196984" y="6858000"/>
                </a:lnTo>
                <a:lnTo>
                  <a:pt x="2438400" y="6858000"/>
                </a:lnTo>
                <a:lnTo>
                  <a:pt x="1482273" y="6858000"/>
                </a:lnTo>
                <a:lnTo>
                  <a:pt x="0" y="6858000"/>
                </a:ln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B24B0BF-4531-FA74-BC12-C1FBA9881BB6}"/>
              </a:ext>
            </a:extLst>
          </p:cNvPr>
          <p:cNvSpPr>
            <a:spLocks noGrp="1"/>
          </p:cNvSpPr>
          <p:nvPr>
            <p:ph type="title"/>
          </p:nvPr>
        </p:nvSpPr>
        <p:spPr>
          <a:xfrm>
            <a:off x="609601" y="685800"/>
            <a:ext cx="2984390" cy="5486400"/>
          </a:xfrm>
        </p:spPr>
        <p:txBody>
          <a:bodyPr anchor="ctr">
            <a:normAutofit/>
          </a:bodyPr>
          <a:lstStyle/>
          <a:p>
            <a:r>
              <a:rPr lang="en-US" dirty="0">
                <a:solidFill>
                  <a:srgbClr val="FFFFFF"/>
                </a:solidFill>
              </a:rPr>
              <a:t>How the Tool Works</a:t>
            </a:r>
          </a:p>
        </p:txBody>
      </p:sp>
      <p:sp useBgFill="1">
        <p:nvSpPr>
          <p:cNvPr id="27" name="Freeform: Shape 26">
            <a:extLst>
              <a:ext uri="{FF2B5EF4-FFF2-40B4-BE49-F238E27FC236}">
                <a16:creationId xmlns:a16="http://schemas.microsoft.com/office/drawing/2014/main" id="{D493E550-6182-46EC-9D62-577FCFBA60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898035" y="-3910"/>
            <a:ext cx="5963231" cy="6861910"/>
          </a:xfrm>
          <a:custGeom>
            <a:avLst/>
            <a:gdLst>
              <a:gd name="connsiteX0" fmla="*/ 2532276 w 5963231"/>
              <a:gd name="connsiteY0" fmla="*/ 6861910 h 6861910"/>
              <a:gd name="connsiteX1" fmla="*/ 2377645 w 5963231"/>
              <a:gd name="connsiteY1" fmla="*/ 6858000 h 6861910"/>
              <a:gd name="connsiteX2" fmla="*/ 0 w 5963231"/>
              <a:gd name="connsiteY2" fmla="*/ 6858000 h 6861910"/>
              <a:gd name="connsiteX3" fmla="*/ 0 w 5963231"/>
              <a:gd name="connsiteY3" fmla="*/ 0 h 6861910"/>
              <a:gd name="connsiteX4" fmla="*/ 2532276 w 5963231"/>
              <a:gd name="connsiteY4" fmla="*/ 0 h 6861910"/>
              <a:gd name="connsiteX5" fmla="*/ 2547568 w 5963231"/>
              <a:gd name="connsiteY5" fmla="*/ 0 h 6861910"/>
              <a:gd name="connsiteX6" fmla="*/ 2547568 w 5963231"/>
              <a:gd name="connsiteY6" fmla="*/ 387 h 6861910"/>
              <a:gd name="connsiteX7" fmla="*/ 2708832 w 5963231"/>
              <a:gd name="connsiteY7" fmla="*/ 4464 h 6861910"/>
              <a:gd name="connsiteX8" fmla="*/ 5963231 w 5963231"/>
              <a:gd name="connsiteY8" fmla="*/ 3430955 h 6861910"/>
              <a:gd name="connsiteX9" fmla="*/ 2532276 w 5963231"/>
              <a:gd name="connsiteY9" fmla="*/ 6861910 h 6861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63231" h="6861910">
                <a:moveTo>
                  <a:pt x="2532276" y="6861910"/>
                </a:moveTo>
                <a:lnTo>
                  <a:pt x="2377645" y="6858000"/>
                </a:lnTo>
                <a:lnTo>
                  <a:pt x="0" y="6858000"/>
                </a:lnTo>
                <a:lnTo>
                  <a:pt x="0" y="0"/>
                </a:lnTo>
                <a:lnTo>
                  <a:pt x="2532276" y="0"/>
                </a:lnTo>
                <a:lnTo>
                  <a:pt x="2547568" y="0"/>
                </a:lnTo>
                <a:lnTo>
                  <a:pt x="2547568" y="387"/>
                </a:lnTo>
                <a:lnTo>
                  <a:pt x="2708832" y="4464"/>
                </a:lnTo>
                <a:cubicBezTo>
                  <a:pt x="4521646" y="96356"/>
                  <a:pt x="5963231" y="1595306"/>
                  <a:pt x="5963231" y="3430955"/>
                </a:cubicBezTo>
                <a:cubicBezTo>
                  <a:pt x="5963231" y="5325819"/>
                  <a:pt x="4427140" y="6861910"/>
                  <a:pt x="2532276" y="6861910"/>
                </a:cubicBezTo>
                <a:close/>
              </a:path>
            </a:pathLst>
          </a:custGeom>
          <a:ln w="31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6" name="Rectangle 1">
            <a:extLst>
              <a:ext uri="{FF2B5EF4-FFF2-40B4-BE49-F238E27FC236}">
                <a16:creationId xmlns:a16="http://schemas.microsoft.com/office/drawing/2014/main" id="{94F6BEC4-D152-B52B-F610-7B11AACBEA95}"/>
              </a:ext>
            </a:extLst>
          </p:cNvPr>
          <p:cNvGraphicFramePr>
            <a:graphicFrameLocks noGrp="1"/>
          </p:cNvGraphicFramePr>
          <p:nvPr>
            <p:ph idx="1"/>
            <p:extLst>
              <p:ext uri="{D42A27DB-BD31-4B8C-83A1-F6EECF244321}">
                <p14:modId xmlns:p14="http://schemas.microsoft.com/office/powerpoint/2010/main" val="618008378"/>
              </p:ext>
            </p:extLst>
          </p:nvPr>
        </p:nvGraphicFramePr>
        <p:xfrm>
          <a:off x="5181998" y="685800"/>
          <a:ext cx="6400401" cy="53889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70104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9F95C5C-FBE3-42CB-A029-C907B401B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15F4668-AC50-40D9-9F1B-B23CB6D82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2672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B09B1BDA-9F0D-4681-9831-A7BD4C62EB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91741" y="3249454"/>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7A2130C3-47F5-4671-95BC-A16BCFEAB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083790" y="3249455"/>
            <a:ext cx="2353172" cy="4863918"/>
          </a:xfrm>
          <a:custGeom>
            <a:avLst/>
            <a:gdLst>
              <a:gd name="connsiteX0" fmla="*/ 2352312 w 2353172"/>
              <a:gd name="connsiteY0" fmla="*/ 0 h 4863918"/>
              <a:gd name="connsiteX1" fmla="*/ 2353172 w 2353172"/>
              <a:gd name="connsiteY1" fmla="*/ 0 h 4863918"/>
              <a:gd name="connsiteX2" fmla="*/ 2353172 w 2353172"/>
              <a:gd name="connsiteY2" fmla="*/ 4863918 h 4863918"/>
              <a:gd name="connsiteX3" fmla="*/ 2352312 w 2353172"/>
              <a:gd name="connsiteY3" fmla="*/ 4863918 h 4863918"/>
              <a:gd name="connsiteX4" fmla="*/ 2340504 w 2353172"/>
              <a:gd name="connsiteY4" fmla="*/ 4630072 h 4863918"/>
              <a:gd name="connsiteX5" fmla="*/ 134816 w 2353172"/>
              <a:gd name="connsiteY5" fmla="*/ 2438342 h 4863918"/>
              <a:gd name="connsiteX6" fmla="*/ 0 w 2353172"/>
              <a:gd name="connsiteY6" fmla="*/ 2431959 h 4863918"/>
              <a:gd name="connsiteX7" fmla="*/ 134816 w 2353172"/>
              <a:gd name="connsiteY7" fmla="*/ 2425576 h 4863918"/>
              <a:gd name="connsiteX8" fmla="*/ 2340504 w 2353172"/>
              <a:gd name="connsiteY8" fmla="*/ 233845 h 4863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3172" h="4863918">
                <a:moveTo>
                  <a:pt x="2352312" y="0"/>
                </a:moveTo>
                <a:lnTo>
                  <a:pt x="2353172" y="0"/>
                </a:lnTo>
                <a:lnTo>
                  <a:pt x="2353172" y="4863918"/>
                </a:lnTo>
                <a:lnTo>
                  <a:pt x="2352312" y="4863918"/>
                </a:lnTo>
                <a:lnTo>
                  <a:pt x="2340504" y="4630072"/>
                </a:lnTo>
                <a:cubicBezTo>
                  <a:pt x="2222700" y="3470082"/>
                  <a:pt x="1296917" y="2548952"/>
                  <a:pt x="134816" y="2438342"/>
                </a:cubicBezTo>
                <a:lnTo>
                  <a:pt x="0" y="2431959"/>
                </a:lnTo>
                <a:lnTo>
                  <a:pt x="134816" y="2425576"/>
                </a:lnTo>
                <a:cubicBezTo>
                  <a:pt x="1296917" y="2314966"/>
                  <a:pt x="2222700" y="1393835"/>
                  <a:pt x="2340504" y="233845"/>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9326DE8-89B7-F9D5-EBA9-DFCD94819BAE}"/>
              </a:ext>
            </a:extLst>
          </p:cNvPr>
          <p:cNvSpPr>
            <a:spLocks noGrp="1"/>
          </p:cNvSpPr>
          <p:nvPr>
            <p:ph type="title"/>
          </p:nvPr>
        </p:nvSpPr>
        <p:spPr>
          <a:xfrm>
            <a:off x="609601" y="685800"/>
            <a:ext cx="3262792" cy="3843241"/>
          </a:xfrm>
        </p:spPr>
        <p:txBody>
          <a:bodyPr anchor="t">
            <a:normAutofit/>
          </a:bodyPr>
          <a:lstStyle/>
          <a:p>
            <a:r>
              <a:rPr lang="en-US">
                <a:solidFill>
                  <a:srgbClr val="FFFFFF"/>
                </a:solidFill>
              </a:rPr>
              <a:t>Future Impact</a:t>
            </a:r>
          </a:p>
        </p:txBody>
      </p:sp>
      <p:graphicFrame>
        <p:nvGraphicFramePr>
          <p:cNvPr id="5" name="Content Placeholder 2">
            <a:extLst>
              <a:ext uri="{FF2B5EF4-FFF2-40B4-BE49-F238E27FC236}">
                <a16:creationId xmlns:a16="http://schemas.microsoft.com/office/drawing/2014/main" id="{5652DFEA-F2BB-4ED2-F43E-0E63E96B2898}"/>
              </a:ext>
            </a:extLst>
          </p:cNvPr>
          <p:cNvGraphicFramePr>
            <a:graphicFrameLocks noGrp="1"/>
          </p:cNvGraphicFramePr>
          <p:nvPr>
            <p:ph idx="1"/>
            <p:extLst>
              <p:ext uri="{D42A27DB-BD31-4B8C-83A1-F6EECF244321}">
                <p14:modId xmlns:p14="http://schemas.microsoft.com/office/powerpoint/2010/main" val="1023635768"/>
              </p:ext>
            </p:extLst>
          </p:nvPr>
        </p:nvGraphicFramePr>
        <p:xfrm>
          <a:off x="5181600" y="685800"/>
          <a:ext cx="6400799" cy="5491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4220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B63154B-778D-4A97-B328-36341A5215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6852807-850F-4AFA-B3C1-C7E2F18062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00"/>
            <a:ext cx="12192000" cy="68696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3">
            <a:extLst>
              <a:ext uri="{FF2B5EF4-FFF2-40B4-BE49-F238E27FC236}">
                <a16:creationId xmlns:a16="http://schemas.microsoft.com/office/drawing/2014/main" id="{EB028E2E-8803-4B03-8127-4A92508066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2523"/>
            <a:ext cx="12192000" cy="5954724"/>
          </a:xfrm>
          <a:custGeom>
            <a:avLst/>
            <a:gdLst>
              <a:gd name="connsiteX0" fmla="*/ 12187321 w 12192000"/>
              <a:gd name="connsiteY0" fmla="*/ 0 h 5653527"/>
              <a:gd name="connsiteX1" fmla="*/ 12192000 w 12192000"/>
              <a:gd name="connsiteY1" fmla="*/ 0 h 5653527"/>
              <a:gd name="connsiteX2" fmla="*/ 12192000 w 12192000"/>
              <a:gd name="connsiteY2" fmla="*/ 3914017 h 5653527"/>
              <a:gd name="connsiteX3" fmla="*/ 12192000 w 12192000"/>
              <a:gd name="connsiteY3" fmla="*/ 5165681 h 5653527"/>
              <a:gd name="connsiteX4" fmla="*/ 12192000 w 12192000"/>
              <a:gd name="connsiteY4" fmla="*/ 5653527 h 5653527"/>
              <a:gd name="connsiteX5" fmla="*/ 0 w 12192000"/>
              <a:gd name="connsiteY5" fmla="*/ 5653527 h 5653527"/>
              <a:gd name="connsiteX6" fmla="*/ 0 w 12192000"/>
              <a:gd name="connsiteY6" fmla="*/ 5165681 h 5653527"/>
              <a:gd name="connsiteX7" fmla="*/ 0 w 12192000"/>
              <a:gd name="connsiteY7" fmla="*/ 3914017 h 5653527"/>
              <a:gd name="connsiteX8" fmla="*/ 0 w 12192000"/>
              <a:gd name="connsiteY8" fmla="*/ 3565476 h 5653527"/>
              <a:gd name="connsiteX9" fmla="*/ 347407 w 12192000"/>
              <a:gd name="connsiteY9" fmla="*/ 3565476 h 5653527"/>
              <a:gd name="connsiteX10" fmla="*/ 347407 w 12192000"/>
              <a:gd name="connsiteY10" fmla="*/ 3565479 h 5653527"/>
              <a:gd name="connsiteX11" fmla="*/ 8433675 w 12192000"/>
              <a:gd name="connsiteY11" fmla="*/ 3565479 h 5653527"/>
              <a:gd name="connsiteX12" fmla="*/ 8433675 w 12192000"/>
              <a:gd name="connsiteY12" fmla="*/ 3562945 h 5653527"/>
              <a:gd name="connsiteX13" fmla="*/ 8533858 w 12192000"/>
              <a:gd name="connsiteY13" fmla="*/ 3565479 h 5653527"/>
              <a:gd name="connsiteX14" fmla="*/ 12173113 w 12192000"/>
              <a:gd name="connsiteY14" fmla="*/ 281361 h 5653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5653527">
                <a:moveTo>
                  <a:pt x="12187321" y="0"/>
                </a:moveTo>
                <a:lnTo>
                  <a:pt x="12192000" y="0"/>
                </a:lnTo>
                <a:lnTo>
                  <a:pt x="12192000" y="3914017"/>
                </a:lnTo>
                <a:lnTo>
                  <a:pt x="12192000" y="5165681"/>
                </a:lnTo>
                <a:lnTo>
                  <a:pt x="12192000" y="5653527"/>
                </a:lnTo>
                <a:lnTo>
                  <a:pt x="0" y="5653527"/>
                </a:lnTo>
                <a:lnTo>
                  <a:pt x="0" y="5165681"/>
                </a:lnTo>
                <a:lnTo>
                  <a:pt x="0" y="3914017"/>
                </a:lnTo>
                <a:lnTo>
                  <a:pt x="0" y="3565476"/>
                </a:lnTo>
                <a:lnTo>
                  <a:pt x="347407" y="3565476"/>
                </a:lnTo>
                <a:lnTo>
                  <a:pt x="347407" y="3565479"/>
                </a:lnTo>
                <a:lnTo>
                  <a:pt x="8433675" y="3565479"/>
                </a:lnTo>
                <a:lnTo>
                  <a:pt x="8433675" y="3562945"/>
                </a:lnTo>
                <a:lnTo>
                  <a:pt x="8533858" y="3565479"/>
                </a:lnTo>
                <a:cubicBezTo>
                  <a:pt x="10427923" y="3565479"/>
                  <a:pt x="11985780" y="2126001"/>
                  <a:pt x="12173113" y="281361"/>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F51B44F2-F754-485A-8661-EDEAFEE449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387" y="-4300"/>
            <a:ext cx="2588613" cy="6858000"/>
          </a:xfrm>
          <a:custGeom>
            <a:avLst/>
            <a:gdLst>
              <a:gd name="connsiteX0" fmla="*/ 0 w 2588613"/>
              <a:gd name="connsiteY0" fmla="*/ 0 h 6858000"/>
              <a:gd name="connsiteX1" fmla="*/ 2588613 w 2588613"/>
              <a:gd name="connsiteY1" fmla="*/ 0 h 6858000"/>
              <a:gd name="connsiteX2" fmla="*/ 2588613 w 2588613"/>
              <a:gd name="connsiteY2" fmla="*/ 6858000 h 6858000"/>
              <a:gd name="connsiteX3" fmla="*/ 3834 w 2588613"/>
              <a:gd name="connsiteY3" fmla="*/ 6858000 h 6858000"/>
              <a:gd name="connsiteX4" fmla="*/ 11560 w 2588613"/>
              <a:gd name="connsiteY4" fmla="*/ 6852506 h 6858000"/>
              <a:gd name="connsiteX5" fmla="*/ 1727655 w 2588613"/>
              <a:gd name="connsiteY5" fmla="*/ 3429000 h 6858000"/>
              <a:gd name="connsiteX6" fmla="*/ 260951 w 2588613"/>
              <a:gd name="connsiteY6" fmla="*/ 2069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8613" h="6858000">
                <a:moveTo>
                  <a:pt x="0" y="0"/>
                </a:moveTo>
                <a:lnTo>
                  <a:pt x="2588613" y="0"/>
                </a:lnTo>
                <a:lnTo>
                  <a:pt x="2588613" y="6858000"/>
                </a:lnTo>
                <a:lnTo>
                  <a:pt x="3834" y="6858000"/>
                </a:lnTo>
                <a:lnTo>
                  <a:pt x="11560" y="6852506"/>
                </a:lnTo>
                <a:cubicBezTo>
                  <a:pt x="1053335" y="6073410"/>
                  <a:pt x="1727655" y="4829953"/>
                  <a:pt x="1727655" y="3429000"/>
                </a:cubicBezTo>
                <a:cubicBezTo>
                  <a:pt x="1727655" y="2143258"/>
                  <a:pt x="1159683" y="990172"/>
                  <a:pt x="260951" y="206956"/>
                </a:cubicBezTo>
                <a:close/>
              </a:path>
            </a:pathLst>
          </a:custGeom>
          <a:solidFill>
            <a:schemeClr val="accent2">
              <a:lumMod val="60000"/>
              <a:lumOff val="40000"/>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8A73CA6-328D-979B-8F23-6757563A00B8}"/>
              </a:ext>
            </a:extLst>
          </p:cNvPr>
          <p:cNvSpPr>
            <a:spLocks noGrp="1"/>
          </p:cNvSpPr>
          <p:nvPr>
            <p:ph type="title"/>
          </p:nvPr>
        </p:nvSpPr>
        <p:spPr>
          <a:xfrm>
            <a:off x="1071571" y="646798"/>
            <a:ext cx="9914859" cy="1329004"/>
          </a:xfrm>
        </p:spPr>
        <p:txBody>
          <a:bodyPr anchor="ctr">
            <a:normAutofit/>
          </a:bodyPr>
          <a:lstStyle/>
          <a:p>
            <a:pPr algn="ctr"/>
            <a:r>
              <a:rPr lang="en-US" dirty="0">
                <a:solidFill>
                  <a:srgbClr val="FFFFFF"/>
                </a:solidFill>
              </a:rPr>
              <a:t>Conclusion	</a:t>
            </a:r>
          </a:p>
        </p:txBody>
      </p:sp>
      <p:sp>
        <p:nvSpPr>
          <p:cNvPr id="3" name="Content Placeholder 2">
            <a:extLst>
              <a:ext uri="{FF2B5EF4-FFF2-40B4-BE49-F238E27FC236}">
                <a16:creationId xmlns:a16="http://schemas.microsoft.com/office/drawing/2014/main" id="{D1C46179-84BA-C5BE-F54A-2AC80095C690}"/>
              </a:ext>
            </a:extLst>
          </p:cNvPr>
          <p:cNvSpPr>
            <a:spLocks noGrp="1"/>
          </p:cNvSpPr>
          <p:nvPr>
            <p:ph idx="1"/>
          </p:nvPr>
        </p:nvSpPr>
        <p:spPr>
          <a:xfrm>
            <a:off x="1985639" y="2212053"/>
            <a:ext cx="8086725" cy="3452812"/>
          </a:xfrm>
        </p:spPr>
        <p:txBody>
          <a:bodyPr anchor="ctr">
            <a:normAutofit/>
          </a:bodyPr>
          <a:lstStyle/>
          <a:p>
            <a:pPr marL="0" indent="0" algn="ctr">
              <a:buNone/>
            </a:pPr>
            <a:r>
              <a:rPr lang="en-US" dirty="0">
                <a:solidFill>
                  <a:srgbClr val="FFFFFF"/>
                </a:solidFill>
              </a:rPr>
              <a:t>The XGBoost model demonstrates strong diagnostic potential (89% AUC). While accuracy is solid, future iterations will focus on minimizing False Negatives to ensure patient safety in clinical deployment.</a:t>
            </a:r>
          </a:p>
        </p:txBody>
      </p:sp>
    </p:spTree>
    <p:extLst>
      <p:ext uri="{BB962C8B-B14F-4D97-AF65-F5344CB8AC3E}">
        <p14:creationId xmlns:p14="http://schemas.microsoft.com/office/powerpoint/2010/main" val="1851792054"/>
      </p:ext>
    </p:extLst>
  </p:cSld>
  <p:clrMapOvr>
    <a:masterClrMapping/>
  </p:clrMapOvr>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Atlas</Template>
  <TotalTime>1319</TotalTime>
  <Words>1325</Words>
  <Application>Microsoft Macintosh PowerPoint</Application>
  <PresentationFormat>Widescreen</PresentationFormat>
  <Paragraphs>101</Paragraphs>
  <Slides>10</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Arial Nova Light</vt:lpstr>
      <vt:lpstr>Elephant</vt:lpstr>
      <vt:lpstr>ModOverlayVTI</vt:lpstr>
      <vt:lpstr>Heart Disease Risk Prediction using XGBoost</vt:lpstr>
      <vt:lpstr>Project Objectives </vt:lpstr>
      <vt:lpstr>Key Input Variables  </vt:lpstr>
      <vt:lpstr>High-Performing Model for Heart Disease Detection</vt:lpstr>
      <vt:lpstr>Analyzing Prediction Accuracy</vt:lpstr>
      <vt:lpstr>Top 5 Features that Drives the Prediction?</vt:lpstr>
      <vt:lpstr>Interactive Prediction Tool (Built with Streamlit)</vt:lpstr>
      <vt:lpstr>How the Tool Works</vt:lpstr>
      <vt:lpstr>Future Impact</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Patel, Neel H</dc:creator>
  <cp:lastModifiedBy>Patel, Neel H</cp:lastModifiedBy>
  <cp:revision>14</cp:revision>
  <dcterms:created xsi:type="dcterms:W3CDTF">2025-11-09T19:28:54Z</dcterms:created>
  <dcterms:modified xsi:type="dcterms:W3CDTF">2025-12-03T02:48:17Z</dcterms:modified>
</cp:coreProperties>
</file>